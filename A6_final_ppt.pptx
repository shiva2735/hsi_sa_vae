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7" r:id="rId3"/>
    <p:sldId id="258" r:id="rId4"/>
    <p:sldId id="293" r:id="rId5"/>
    <p:sldId id="310" r:id="rId6"/>
    <p:sldId id="311" r:id="rId7"/>
    <p:sldId id="303" r:id="rId8"/>
    <p:sldId id="305" r:id="rId9"/>
    <p:sldId id="301" r:id="rId10"/>
    <p:sldId id="304" r:id="rId11"/>
    <p:sldId id="295" r:id="rId12"/>
    <p:sldId id="297" r:id="rId13"/>
    <p:sldId id="299" r:id="rId14"/>
    <p:sldId id="300" r:id="rId15"/>
    <p:sldId id="260" r:id="rId16"/>
    <p:sldId id="306" r:id="rId17"/>
    <p:sldId id="308" r:id="rId18"/>
    <p:sldId id="309" r:id="rId19"/>
    <p:sldId id="261" r:id="rId20"/>
    <p:sldId id="307"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solidFill>
                  <a:schemeClr val="tx1">
                    <a:alpha val="60000"/>
                  </a:schemeClr>
                </a:solidFill>
                <a:latin typeface="+mn-lt"/>
              </a:defRPr>
            </a:lvl1pPr>
          </a:lstStyle>
          <a:p>
            <a:fld id="{11A6662E-FAF4-44BC-88B5-85A7CBFB6D30}" type="datetime1">
              <a:rPr lang="en-US" smtClean="0"/>
              <a:pPr/>
              <a:t>5/2/2025</a:t>
            </a:fld>
            <a:endParaRPr lang="en-US" dirty="0"/>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solidFill>
                  <a:schemeClr val="tx1">
                    <a:alpha val="60000"/>
                  </a:schemeClr>
                </a:solidFill>
                <a:latin typeface="+mn-lt"/>
              </a:defRPr>
            </a:lvl1pPr>
          </a:lstStyle>
          <a:p>
            <a:endParaRPr lang="en-US">
              <a:solidFill>
                <a:schemeClr val="tx1">
                  <a:alpha val="60000"/>
                </a:schemeClr>
              </a:solidFill>
            </a:endParaRPr>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solidFill>
                  <a:schemeClr val="tx1">
                    <a:alpha val="60000"/>
                  </a:schemeClr>
                </a:solidFill>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801986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5/2/2025</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845457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5/2/2025</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820488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458695" y="1825625"/>
            <a:ext cx="556110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199" y="1825625"/>
            <a:ext cx="556110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5/2/2025</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364493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5532319"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5532319"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561106"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561106"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5/2/2025</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214991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458694" y="365760"/>
            <a:ext cx="11274612"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a:xfrm>
            <a:off x="458693" y="6416675"/>
            <a:ext cx="2921715" cy="365125"/>
          </a:xfrm>
        </p:spPr>
        <p:txBody>
          <a:bodyPr/>
          <a:lstStyle/>
          <a:p>
            <a:fld id="{3AB41CFF-90C9-47B3-9DA1-F2BF8D839F7E}" type="datetime1">
              <a:rPr lang="en-US" smtClean="0"/>
              <a:t>5/2/2025</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21006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5/2/2025</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689430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5/2/2025</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473733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5/2/2025</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480267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5/2/2025</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71242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5/2/2025</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45221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458694" y="425450"/>
            <a:ext cx="11274612"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458694" y="1949450"/>
            <a:ext cx="11274612"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458694" y="6416675"/>
            <a:ext cx="2743200" cy="365125"/>
          </a:xfrm>
          <a:prstGeom prst="rect">
            <a:avLst/>
          </a:prstGeom>
        </p:spPr>
        <p:txBody>
          <a:bodyPr vert="horz" lIns="91440" tIns="45720" rIns="91440" bIns="45720" rtlCol="0" anchor="ctr"/>
          <a:lstStyle>
            <a:lvl1pPr algn="l">
              <a:defRPr sz="900">
                <a:solidFill>
                  <a:schemeClr val="tx1">
                    <a:alpha val="60000"/>
                  </a:schemeClr>
                </a:solidFill>
                <a:latin typeface="+mn-lt"/>
              </a:defRPr>
            </a:lvl1pPr>
          </a:lstStyle>
          <a:p>
            <a:fld id="{57E0CF6C-748E-4B7A-BC8B-3011EF78ED13}" type="datetime1">
              <a:rPr lang="en-US" smtClean="0"/>
              <a:pPr/>
              <a:t>5/2/2025</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416675"/>
            <a:ext cx="4114800" cy="365125"/>
          </a:xfrm>
          <a:prstGeom prst="rect">
            <a:avLst/>
          </a:prstGeom>
        </p:spPr>
        <p:txBody>
          <a:bodyPr vert="horz" lIns="91440" tIns="45720" rIns="91440" bIns="45720" rtlCol="0" anchor="ctr"/>
          <a:lstStyle>
            <a:lvl1pPr algn="ctr">
              <a:defRPr sz="900">
                <a:solidFill>
                  <a:schemeClr val="tx1">
                    <a:alpha val="60000"/>
                  </a:schemeClr>
                </a:solidFill>
                <a:latin typeface="+mn-lt"/>
              </a:defRPr>
            </a:lvl1p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990106" y="6416675"/>
            <a:ext cx="2743200" cy="365125"/>
          </a:xfrm>
          <a:prstGeom prst="rect">
            <a:avLst/>
          </a:prstGeom>
        </p:spPr>
        <p:txBody>
          <a:bodyPr vert="horz" lIns="91440" tIns="45720" rIns="91440" bIns="45720" rtlCol="0" anchor="ctr"/>
          <a:lstStyle>
            <a:lvl1pPr algn="r">
              <a:defRPr sz="900">
                <a:solidFill>
                  <a:schemeClr val="tx1">
                    <a:alpha val="60000"/>
                  </a:schemeClr>
                </a:solidFill>
                <a:latin typeface="+mn-lt"/>
              </a:defRPr>
            </a:lvl1pPr>
          </a:lstStyle>
          <a:p>
            <a:fld id="{73B850FF-6169-4056-8077-06FFA93A5366}" type="slidenum">
              <a:rPr lang="en-US" smtClean="0"/>
              <a:pPr/>
              <a:t>‹#›</a:t>
            </a:fld>
            <a:endParaRPr lang="en-US" dirty="0"/>
          </a:p>
        </p:txBody>
      </p:sp>
      <p:pic>
        <p:nvPicPr>
          <p:cNvPr id="14" name="Picture 13" descr="A picture containing sitting&#10;&#10;Description automatically generated">
            <a:extLst>
              <a:ext uri="{FF2B5EF4-FFF2-40B4-BE49-F238E27FC236}">
                <a16:creationId xmlns:a16="http://schemas.microsoft.com/office/drawing/2014/main" id="{BC526B7A-4801-4FD1-95C8-03AF22629E87}"/>
              </a:ext>
            </a:extLst>
          </p:cNvPr>
          <p:cNvPicPr>
            <a:picLocks noChangeAspect="1"/>
          </p:cNvPicPr>
          <p:nvPr/>
        </p:nvPicPr>
        <p:blipFill>
          <a:blip r:embed="rId13">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Tree>
    <p:extLst>
      <p:ext uri="{BB962C8B-B14F-4D97-AF65-F5344CB8AC3E}">
        <p14:creationId xmlns:p14="http://schemas.microsoft.com/office/powerpoint/2010/main" val="3140012213"/>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sldNum="0" hdr="0" ftr="0" dt="0"/>
  <p:txStyles>
    <p:title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Rectangle 75">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78" name="Picture 77">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80" name="Rectangle 7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2" name="Rectangle 81">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5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B20574BF-3280-E0F2-4556-1BD1F5D1F569}"/>
              </a:ext>
            </a:extLst>
          </p:cNvPr>
          <p:cNvSpPr>
            <a:spLocks noGrp="1"/>
          </p:cNvSpPr>
          <p:nvPr>
            <p:ph type="ctrTitle"/>
          </p:nvPr>
        </p:nvSpPr>
        <p:spPr>
          <a:xfrm>
            <a:off x="838200" y="586992"/>
            <a:ext cx="4953000" cy="2308608"/>
          </a:xfrm>
        </p:spPr>
        <p:txBody>
          <a:bodyPr vert="horz" lIns="91440" tIns="45720" rIns="91440" bIns="45720" rtlCol="0" anchor="ctr" anchorCtr="0">
            <a:normAutofit/>
          </a:bodyPr>
          <a:lstStyle/>
          <a:p>
            <a:pPr algn="l"/>
            <a:r>
              <a:rPr lang="en-US" i="1" spc="100" baseline="0">
                <a:solidFill>
                  <a:srgbClr val="FFFFFF"/>
                </a:solidFill>
              </a:rPr>
              <a:t>Project Review</a:t>
            </a:r>
          </a:p>
        </p:txBody>
      </p:sp>
      <p:sp>
        <p:nvSpPr>
          <p:cNvPr id="3" name="Subtitle 2">
            <a:extLst>
              <a:ext uri="{FF2B5EF4-FFF2-40B4-BE49-F238E27FC236}">
                <a16:creationId xmlns:a16="http://schemas.microsoft.com/office/drawing/2014/main" id="{8C569F5B-C8F5-E463-9EAD-25610A71091D}"/>
              </a:ext>
            </a:extLst>
          </p:cNvPr>
          <p:cNvSpPr>
            <a:spLocks noGrp="1"/>
          </p:cNvSpPr>
          <p:nvPr>
            <p:ph type="subTitle" idx="1"/>
          </p:nvPr>
        </p:nvSpPr>
        <p:spPr>
          <a:xfrm>
            <a:off x="838200" y="2819400"/>
            <a:ext cx="4952681" cy="3460964"/>
          </a:xfrm>
        </p:spPr>
        <p:txBody>
          <a:bodyPr vert="horz" lIns="91440" tIns="45720" rIns="91440" bIns="45720" rtlCol="0" anchor="ctr">
            <a:normAutofit/>
          </a:bodyPr>
          <a:lstStyle/>
          <a:p>
            <a:pPr marL="182880" indent="-228600" algn="l">
              <a:lnSpc>
                <a:spcPct val="100000"/>
              </a:lnSpc>
              <a:buFont typeface="Arial" panose="020B0604020202020204" pitchFamily="34" charset="0"/>
              <a:buChar char="•"/>
            </a:pPr>
            <a:endParaRPr lang="en-US" sz="1700">
              <a:solidFill>
                <a:srgbClr val="FFFFFF"/>
              </a:solidFill>
            </a:endParaRPr>
          </a:p>
          <a:p>
            <a:pPr marL="182880" indent="-228600" algn="l">
              <a:lnSpc>
                <a:spcPct val="100000"/>
              </a:lnSpc>
              <a:buFont typeface="Arial" panose="020B0604020202020204" pitchFamily="34" charset="0"/>
              <a:buChar char="•"/>
            </a:pPr>
            <a:r>
              <a:rPr lang="en-US" sz="1700">
                <a:solidFill>
                  <a:srgbClr val="FFFFFF"/>
                </a:solidFill>
              </a:rPr>
              <a:t>B Shiva Shankar</a:t>
            </a:r>
          </a:p>
          <a:p>
            <a:pPr marL="182880" indent="-228600" algn="l">
              <a:lnSpc>
                <a:spcPct val="100000"/>
              </a:lnSpc>
              <a:buFont typeface="Arial" panose="020B0604020202020204" pitchFamily="34" charset="0"/>
              <a:buChar char="•"/>
            </a:pPr>
            <a:r>
              <a:rPr lang="en-US" sz="1700">
                <a:solidFill>
                  <a:srgbClr val="FFFFFF"/>
                </a:solidFill>
              </a:rPr>
              <a:t>            1602-21-737-050</a:t>
            </a:r>
          </a:p>
          <a:p>
            <a:pPr marL="182880" indent="-228600" algn="l">
              <a:lnSpc>
                <a:spcPct val="100000"/>
              </a:lnSpc>
              <a:buFont typeface="Arial" panose="020B0604020202020204" pitchFamily="34" charset="0"/>
              <a:buChar char="•"/>
            </a:pPr>
            <a:r>
              <a:rPr lang="en-US" sz="1700">
                <a:solidFill>
                  <a:srgbClr val="FFFFFF"/>
                </a:solidFill>
              </a:rPr>
              <a:t>Munagapati Lokesh</a:t>
            </a:r>
          </a:p>
          <a:p>
            <a:pPr marL="182880" indent="-228600" algn="l">
              <a:lnSpc>
                <a:spcPct val="100000"/>
              </a:lnSpc>
              <a:buFont typeface="Arial" panose="020B0604020202020204" pitchFamily="34" charset="0"/>
              <a:buChar char="•"/>
            </a:pPr>
            <a:r>
              <a:rPr lang="en-US" sz="1700">
                <a:solidFill>
                  <a:srgbClr val="FFFFFF"/>
                </a:solidFill>
              </a:rPr>
              <a:t>               1602-21-737-030</a:t>
            </a:r>
            <a:br>
              <a:rPr lang="en-US" sz="1700">
                <a:solidFill>
                  <a:srgbClr val="FFFFFF"/>
                </a:solidFill>
              </a:rPr>
            </a:br>
            <a:br>
              <a:rPr lang="en-US" sz="1700">
                <a:solidFill>
                  <a:srgbClr val="FFFFFF"/>
                </a:solidFill>
              </a:rPr>
            </a:br>
            <a:r>
              <a:rPr lang="en-US" sz="1700">
                <a:solidFill>
                  <a:srgbClr val="FFFFFF"/>
                </a:solidFill>
              </a:rPr>
              <a:t>Guide:</a:t>
            </a:r>
            <a:br>
              <a:rPr lang="en-US" sz="1700">
                <a:solidFill>
                  <a:srgbClr val="FFFFFF"/>
                </a:solidFill>
              </a:rPr>
            </a:br>
            <a:r>
              <a:rPr lang="en-US" sz="1700">
                <a:solidFill>
                  <a:srgbClr val="FFFFFF"/>
                </a:solidFill>
              </a:rPr>
              <a:t>T. Hitendra Sarma</a:t>
            </a:r>
            <a:br>
              <a:rPr lang="en-US" sz="1700">
                <a:solidFill>
                  <a:srgbClr val="FFFFFF"/>
                </a:solidFill>
              </a:rPr>
            </a:br>
            <a:r>
              <a:rPr lang="en-US" sz="1700">
                <a:solidFill>
                  <a:srgbClr val="FFFFFF"/>
                </a:solidFill>
              </a:rPr>
              <a:t>	Associate Professor</a:t>
            </a:r>
            <a:br>
              <a:rPr lang="en-US" sz="1700" b="1">
                <a:solidFill>
                  <a:srgbClr val="FFFFFF"/>
                </a:solidFill>
              </a:rPr>
            </a:br>
            <a:br>
              <a:rPr lang="en-US" sz="1700" b="1">
                <a:solidFill>
                  <a:srgbClr val="FFFFFF"/>
                </a:solidFill>
              </a:rPr>
            </a:br>
            <a:endParaRPr lang="en-US" sz="1700" b="1">
              <a:solidFill>
                <a:srgbClr val="FFFFFF"/>
              </a:solidFill>
            </a:endParaRPr>
          </a:p>
        </p:txBody>
      </p:sp>
      <p:grpSp>
        <p:nvGrpSpPr>
          <p:cNvPr id="92" name="Group 91">
            <a:extLst>
              <a:ext uri="{FF2B5EF4-FFF2-40B4-BE49-F238E27FC236}">
                <a16:creationId xmlns:a16="http://schemas.microsoft.com/office/drawing/2014/main" id="{0974BA0E-B544-45F7-A92D-96789A82203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94385" y="41921"/>
            <a:ext cx="3997615" cy="6816079"/>
            <a:chOff x="8059620" y="41922"/>
            <a:chExt cx="3997615" cy="6816077"/>
          </a:xfrm>
        </p:grpSpPr>
        <p:pic>
          <p:nvPicPr>
            <p:cNvPr id="85" name="Picture 84">
              <a:extLst>
                <a:ext uri="{FF2B5EF4-FFF2-40B4-BE49-F238E27FC236}">
                  <a16:creationId xmlns:a16="http://schemas.microsoft.com/office/drawing/2014/main" id="{35B9D9A8-82B0-4B76-BDAA-CCE3802A9EB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alphaModFix amt="10000"/>
              <a:extLst>
                <a:ext uri="{28A0092B-C50C-407E-A947-70E740481C1C}">
                  <a14:useLocalDpi xmlns:a14="http://schemas.microsoft.com/office/drawing/2010/main" val="0"/>
                </a:ext>
              </a:extLst>
            </a:blip>
            <a:srcRect l="22818" b="17291"/>
            <a:stretch/>
          </p:blipFill>
          <p:spPr>
            <a:xfrm flipH="1">
              <a:off x="8059620" y="1345934"/>
              <a:ext cx="3997615" cy="5512065"/>
            </a:xfrm>
            <a:prstGeom prst="rect">
              <a:avLst/>
            </a:prstGeom>
          </p:spPr>
        </p:pic>
        <p:pic>
          <p:nvPicPr>
            <p:cNvPr id="86" name="Picture 85">
              <a:extLst>
                <a:ext uri="{FF2B5EF4-FFF2-40B4-BE49-F238E27FC236}">
                  <a16:creationId xmlns:a16="http://schemas.microsoft.com/office/drawing/2014/main" id="{98022CB9-B7A5-4853-A70B-BE37877C83C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alphaModFix amt="16000"/>
              <a:extLst>
                <a:ext uri="{28A0092B-C50C-407E-A947-70E740481C1C}">
                  <a14:useLocalDpi xmlns:a14="http://schemas.microsoft.com/office/drawing/2010/main" val="0"/>
                </a:ext>
              </a:extLst>
            </a:blip>
            <a:srcRect r="40690"/>
            <a:stretch/>
          </p:blipFill>
          <p:spPr>
            <a:xfrm>
              <a:off x="8915400" y="41922"/>
              <a:ext cx="3141835" cy="6816077"/>
            </a:xfrm>
            <a:prstGeom prst="rect">
              <a:avLst/>
            </a:prstGeom>
          </p:spPr>
        </p:pic>
      </p:grpSp>
      <p:pic>
        <p:nvPicPr>
          <p:cNvPr id="4" name="Picture 3">
            <a:extLst>
              <a:ext uri="{FF2B5EF4-FFF2-40B4-BE49-F238E27FC236}">
                <a16:creationId xmlns:a16="http://schemas.microsoft.com/office/drawing/2014/main" id="{F0791C01-7628-F1AD-6A94-1CB066AF1D00}"/>
              </a:ext>
            </a:extLst>
          </p:cNvPr>
          <p:cNvPicPr>
            <a:picLocks noChangeAspect="1"/>
          </p:cNvPicPr>
          <p:nvPr/>
        </p:nvPicPr>
        <p:blipFill>
          <a:blip r:embed="rId4"/>
          <a:srcRect l="18808" r="26029" b="-2"/>
          <a:stretch/>
        </p:blipFill>
        <p:spPr>
          <a:xfrm>
            <a:off x="6858001" y="567942"/>
            <a:ext cx="4724400" cy="5716862"/>
          </a:xfrm>
          <a:prstGeom prst="rect">
            <a:avLst/>
          </a:prstGeom>
        </p:spPr>
      </p:pic>
    </p:spTree>
    <p:extLst>
      <p:ext uri="{BB962C8B-B14F-4D97-AF65-F5344CB8AC3E}">
        <p14:creationId xmlns:p14="http://schemas.microsoft.com/office/powerpoint/2010/main" val="4257366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74944-7B38-76C4-2F5E-B4BB221C62AF}"/>
              </a:ext>
            </a:extLst>
          </p:cNvPr>
          <p:cNvSpPr>
            <a:spLocks noGrp="1"/>
          </p:cNvSpPr>
          <p:nvPr>
            <p:ph type="ctrTitle"/>
          </p:nvPr>
        </p:nvSpPr>
        <p:spPr>
          <a:xfrm>
            <a:off x="540775" y="0"/>
            <a:ext cx="11110450" cy="1039167"/>
          </a:xfrm>
        </p:spPr>
        <p:txBody>
          <a:bodyPr>
            <a:normAutofit/>
          </a:bodyPr>
          <a:lstStyle/>
          <a:p>
            <a:r>
              <a:rPr lang="en-IN" sz="2800" b="1" dirty="0">
                <a:latin typeface="Times New Roman" panose="02020603050405020304" pitchFamily="18" charset="0"/>
                <a:cs typeface="Times New Roman" panose="02020603050405020304" pitchFamily="18" charset="0"/>
              </a:rPr>
              <a:t>Self Adaptive Evolutionary VAE Framework for Hyperspectral Unmixing with End Member Variability</a:t>
            </a:r>
            <a:endParaRPr lang="en-IN" sz="2800" dirty="0"/>
          </a:p>
        </p:txBody>
      </p:sp>
      <p:sp>
        <p:nvSpPr>
          <p:cNvPr id="3" name="Subtitle 2">
            <a:extLst>
              <a:ext uri="{FF2B5EF4-FFF2-40B4-BE49-F238E27FC236}">
                <a16:creationId xmlns:a16="http://schemas.microsoft.com/office/drawing/2014/main" id="{E09EB3BA-0988-8F4C-E251-6A92AE298C9C}"/>
              </a:ext>
            </a:extLst>
          </p:cNvPr>
          <p:cNvSpPr>
            <a:spLocks noGrp="1"/>
          </p:cNvSpPr>
          <p:nvPr>
            <p:ph type="subTitle" idx="1"/>
          </p:nvPr>
        </p:nvSpPr>
        <p:spPr>
          <a:xfrm>
            <a:off x="261256" y="1235947"/>
            <a:ext cx="11429297" cy="5365820"/>
          </a:xfrm>
        </p:spPr>
        <p:txBody>
          <a:bodyPr>
            <a:noAutofit/>
          </a:bodyPr>
          <a:lstStyle/>
          <a:p>
            <a:pPr algn="l"/>
            <a:r>
              <a:rPr lang="en-IN" dirty="0">
                <a:latin typeface="Times New Roman" panose="02020603050405020304" pitchFamily="18" charset="0"/>
                <a:cs typeface="Times New Roman" panose="02020603050405020304" pitchFamily="18" charset="0"/>
              </a:rPr>
              <a:t>Hyperspectral imaging (HSI) relies on accurate spectral unmixing (SU) to decompose mixed pixels into pure spectral components (endmembers) and their proportions. However, </a:t>
            </a:r>
            <a:r>
              <a:rPr lang="en-IN" b="1" dirty="0">
                <a:latin typeface="Times New Roman" panose="02020603050405020304" pitchFamily="18" charset="0"/>
                <a:cs typeface="Times New Roman" panose="02020603050405020304" pitchFamily="18" charset="0"/>
              </a:rPr>
              <a:t>endmember variability</a:t>
            </a:r>
            <a:r>
              <a:rPr lang="en-IN" dirty="0">
                <a:latin typeface="Times New Roman" panose="02020603050405020304" pitchFamily="18" charset="0"/>
                <a:cs typeface="Times New Roman" panose="02020603050405020304" pitchFamily="18" charset="0"/>
              </a:rPr>
              <a:t>—shifts due to environmental factors like lighting and atmospheric conditions—significantly challenges traditional unmixing methods, which lack adaptability to these dynamic spectral changes.</a:t>
            </a:r>
          </a:p>
          <a:p>
            <a:pPr algn="l"/>
            <a:r>
              <a:rPr lang="en-IN" dirty="0">
                <a:latin typeface="Times New Roman" panose="02020603050405020304" pitchFamily="18" charset="0"/>
                <a:cs typeface="Times New Roman" panose="02020603050405020304" pitchFamily="18" charset="0"/>
              </a:rPr>
              <a:t>While variational autoencoders (VAEs) offer potential for capturing endmember variability, standard VAEs are limited by fixed hyperparameters, restricting their flexibility for complex real-world conditions. Recent advancements in self-adaptive evolutionary VAEs (SA-</a:t>
            </a:r>
            <a:r>
              <a:rPr lang="en-IN" dirty="0" err="1">
                <a:latin typeface="Times New Roman" panose="02020603050405020304" pitchFamily="18" charset="0"/>
                <a:cs typeface="Times New Roman" panose="02020603050405020304" pitchFamily="18" charset="0"/>
              </a:rPr>
              <a:t>eInfoVAE</a:t>
            </a:r>
            <a:r>
              <a:rPr lang="en-IN" dirty="0">
                <a:latin typeface="Times New Roman" panose="02020603050405020304" pitchFamily="18" charset="0"/>
                <a:cs typeface="Times New Roman" panose="02020603050405020304" pitchFamily="18" charset="0"/>
              </a:rPr>
              <a:t>) introduce dynamic hyperparameter optimization, enabling VAEs to better adjust to variability, but have yet to be applied for comprehensive SU tasks in HSI.</a:t>
            </a:r>
          </a:p>
          <a:p>
            <a:pPr algn="l"/>
            <a:r>
              <a:rPr lang="en-IN" dirty="0">
                <a:latin typeface="Times New Roman" panose="02020603050405020304" pitchFamily="18" charset="0"/>
                <a:cs typeface="Times New Roman" panose="02020603050405020304" pitchFamily="18" charset="0"/>
              </a:rPr>
              <a:t>This study aims to develop a </a:t>
            </a:r>
            <a:r>
              <a:rPr lang="en-IN" b="1" dirty="0">
                <a:latin typeface="Times New Roman" panose="02020603050405020304" pitchFamily="18" charset="0"/>
                <a:cs typeface="Times New Roman" panose="02020603050405020304" pitchFamily="18" charset="0"/>
              </a:rPr>
              <a:t>self-adaptive evolutionary VAE framework for hyperspectral unmixing</a:t>
            </a:r>
            <a:r>
              <a:rPr lang="en-IN" dirty="0">
                <a:latin typeface="Times New Roman" panose="02020603050405020304" pitchFamily="18" charset="0"/>
                <a:cs typeface="Times New Roman" panose="02020603050405020304" pitchFamily="18" charset="0"/>
              </a:rPr>
              <a:t> that dynamically optimizes model parameters to manage endmember variability, enhancing unmixing accuracy across diverse HSI applications.</a:t>
            </a:r>
          </a:p>
          <a:p>
            <a:pPr algn="l"/>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3603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800F8-9358-C815-772C-D3B9D0C51A77}"/>
              </a:ext>
            </a:extLst>
          </p:cNvPr>
          <p:cNvSpPr>
            <a:spLocks noGrp="1"/>
          </p:cNvSpPr>
          <p:nvPr>
            <p:ph type="ctrTitle"/>
          </p:nvPr>
        </p:nvSpPr>
        <p:spPr>
          <a:xfrm>
            <a:off x="1024932" y="-270616"/>
            <a:ext cx="8728668" cy="1088274"/>
          </a:xfrm>
        </p:spPr>
        <p:txBody>
          <a:bodyPr/>
          <a:lstStyle/>
          <a:p>
            <a:r>
              <a:rPr lang="en-IN" dirty="0"/>
              <a:t>Abstract</a:t>
            </a:r>
          </a:p>
        </p:txBody>
      </p:sp>
      <p:sp>
        <p:nvSpPr>
          <p:cNvPr id="3" name="Subtitle 2">
            <a:extLst>
              <a:ext uri="{FF2B5EF4-FFF2-40B4-BE49-F238E27FC236}">
                <a16:creationId xmlns:a16="http://schemas.microsoft.com/office/drawing/2014/main" id="{3F90E9A5-755E-9CB9-394D-F82A1122CDA6}"/>
              </a:ext>
            </a:extLst>
          </p:cNvPr>
          <p:cNvSpPr>
            <a:spLocks noGrp="1"/>
          </p:cNvSpPr>
          <p:nvPr>
            <p:ph type="subTitle" idx="1"/>
          </p:nvPr>
        </p:nvSpPr>
        <p:spPr>
          <a:xfrm>
            <a:off x="622998" y="1075174"/>
            <a:ext cx="10674268" cy="5443613"/>
          </a:xfrm>
        </p:spPr>
        <p:txBody>
          <a:bodyPr>
            <a:noAutofit/>
          </a:bodyPr>
          <a:lstStyle/>
          <a:p>
            <a:pPr algn="l"/>
            <a:r>
              <a:rPr lang="en-IN" dirty="0">
                <a:latin typeface="Times New Roman" panose="02020603050405020304" pitchFamily="18" charset="0"/>
                <a:cs typeface="Times New Roman" panose="02020603050405020304" pitchFamily="18" charset="0"/>
              </a:rPr>
              <a:t>Spectral unmixing (SU) in hyperspectral imaging (HSI) is crucial for applications like environmental monitoring and remote sensing, decomposing each pixel into its pure spectral components, or endmembers. However, endmember variability due to environmental factors (e.g., illumination and atmospheric changes) complicates accurate unmixing, limiting the effectiveness of traditional models like the linear mixing model (LMM) and standard variational autoencoders (VAEs).</a:t>
            </a:r>
          </a:p>
          <a:p>
            <a:pPr algn="l"/>
            <a:r>
              <a:rPr lang="en-IN" dirty="0">
                <a:latin typeface="Times New Roman" panose="02020603050405020304" pitchFamily="18" charset="0"/>
                <a:cs typeface="Times New Roman" panose="02020603050405020304" pitchFamily="18" charset="0"/>
              </a:rPr>
              <a:t>This study introduces a self-adaptive evolutionary variational autoencoder (SA-</a:t>
            </a:r>
            <a:r>
              <a:rPr lang="en-IN" dirty="0" err="1">
                <a:latin typeface="Times New Roman" panose="02020603050405020304" pitchFamily="18" charset="0"/>
                <a:cs typeface="Times New Roman" panose="02020603050405020304" pitchFamily="18" charset="0"/>
              </a:rPr>
              <a:t>eInfoVAE</a:t>
            </a:r>
            <a:r>
              <a:rPr lang="en-IN" dirty="0">
                <a:latin typeface="Times New Roman" panose="02020603050405020304" pitchFamily="18" charset="0"/>
                <a:cs typeface="Times New Roman" panose="02020603050405020304" pitchFamily="18" charset="0"/>
              </a:rPr>
              <a:t>) framework to enhance SU by dynamically addressing endmember variability. By incorporating evolutionary techniques, including self-adaptive crossover and mutation strategies, SA-</a:t>
            </a:r>
            <a:r>
              <a:rPr lang="en-IN" dirty="0" err="1">
                <a:latin typeface="Times New Roman" panose="02020603050405020304" pitchFamily="18" charset="0"/>
                <a:cs typeface="Times New Roman" panose="02020603050405020304" pitchFamily="18" charset="0"/>
              </a:rPr>
              <a:t>eInfoVAE</a:t>
            </a:r>
            <a:r>
              <a:rPr lang="en-IN" dirty="0">
                <a:latin typeface="Times New Roman" panose="02020603050405020304" pitchFamily="18" charset="0"/>
                <a:cs typeface="Times New Roman" panose="02020603050405020304" pitchFamily="18" charset="0"/>
              </a:rPr>
              <a:t> optimizes VAE hyperparameters in real time, improving adaptability and unmixing performance across varied spectral conditions. Building on advancements in evolutionary autoencoder training, SA-</a:t>
            </a:r>
            <a:r>
              <a:rPr lang="en-IN" dirty="0" err="1">
                <a:latin typeface="Times New Roman" panose="02020603050405020304" pitchFamily="18" charset="0"/>
                <a:cs typeface="Times New Roman" panose="02020603050405020304" pitchFamily="18" charset="0"/>
              </a:rPr>
              <a:t>eInfoVAE</a:t>
            </a:r>
            <a:r>
              <a:rPr lang="en-IN" dirty="0">
                <a:latin typeface="Times New Roman" panose="02020603050405020304" pitchFamily="18" charset="0"/>
                <a:cs typeface="Times New Roman" panose="02020603050405020304" pitchFamily="18" charset="0"/>
              </a:rPr>
              <a:t> achieves lower computational costs and enhanced feature extraction.</a:t>
            </a:r>
          </a:p>
          <a:p>
            <a:pPr algn="l"/>
            <a:r>
              <a:rPr lang="en-IN" dirty="0">
                <a:latin typeface="Times New Roman" panose="02020603050405020304" pitchFamily="18" charset="0"/>
                <a:cs typeface="Times New Roman" panose="02020603050405020304" pitchFamily="18" charset="0"/>
              </a:rPr>
              <a:t>Through evaluation on real-world datasets, SA-eInfoVAE demonstrates superior accuracy and adaptability over traditional methods, providing a robust solution for spectral data analysis in dynamic environments.</a:t>
            </a:r>
          </a:p>
        </p:txBody>
      </p:sp>
    </p:spTree>
    <p:extLst>
      <p:ext uri="{BB962C8B-B14F-4D97-AF65-F5344CB8AC3E}">
        <p14:creationId xmlns:p14="http://schemas.microsoft.com/office/powerpoint/2010/main" val="848784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C6B7D-038A-A10B-7000-AB6734299317}"/>
              </a:ext>
            </a:extLst>
          </p:cNvPr>
          <p:cNvSpPr>
            <a:spLocks noGrp="1"/>
          </p:cNvSpPr>
          <p:nvPr>
            <p:ph type="title"/>
          </p:nvPr>
        </p:nvSpPr>
        <p:spPr>
          <a:xfrm>
            <a:off x="1075828" y="381000"/>
            <a:ext cx="4636714" cy="1044677"/>
          </a:xfrm>
        </p:spPr>
        <p:txBody>
          <a:bodyPr anchor="b">
            <a:normAutofit/>
          </a:bodyPr>
          <a:lstStyle/>
          <a:p>
            <a:r>
              <a:rPr lang="en-IN" dirty="0"/>
              <a:t>Proposed Methodology</a:t>
            </a:r>
          </a:p>
        </p:txBody>
      </p:sp>
      <p:pic>
        <p:nvPicPr>
          <p:cNvPr id="4" name="Picture 3" descr="A diagram of a program&#10;&#10;Description automatically generated">
            <a:extLst>
              <a:ext uri="{FF2B5EF4-FFF2-40B4-BE49-F238E27FC236}">
                <a16:creationId xmlns:a16="http://schemas.microsoft.com/office/drawing/2014/main" id="{1131FCBF-6492-1549-AFD2-CE8E758D07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9632" y="1566982"/>
            <a:ext cx="5126729" cy="3724036"/>
          </a:xfrm>
          <a:prstGeom prst="rect">
            <a:avLst/>
          </a:prstGeom>
          <a:noFill/>
          <a:ln w="19050">
            <a:solidFill>
              <a:schemeClr val="bg1"/>
            </a:solidFill>
          </a:ln>
        </p:spPr>
      </p:pic>
      <p:sp>
        <p:nvSpPr>
          <p:cNvPr id="3" name="Content Placeholder 2">
            <a:extLst>
              <a:ext uri="{FF2B5EF4-FFF2-40B4-BE49-F238E27FC236}">
                <a16:creationId xmlns:a16="http://schemas.microsoft.com/office/drawing/2014/main" id="{A3970B5C-D1F7-C952-9B94-B10059445D8E}"/>
              </a:ext>
            </a:extLst>
          </p:cNvPr>
          <p:cNvSpPr>
            <a:spLocks noGrp="1"/>
          </p:cNvSpPr>
          <p:nvPr>
            <p:ph type="body" sz="half" idx="2"/>
          </p:nvPr>
        </p:nvSpPr>
        <p:spPr>
          <a:xfrm>
            <a:off x="255638" y="1566981"/>
            <a:ext cx="6553993" cy="5123185"/>
          </a:xfrm>
        </p:spPr>
        <p:txBody>
          <a:bodyPr>
            <a:normAutofit fontScale="92500" lnSpcReduction="20000"/>
          </a:bodyPr>
          <a:lstStyle/>
          <a:p>
            <a:pPr>
              <a:spcAft>
                <a:spcPts val="1000"/>
              </a:spcAft>
              <a:tabLst>
                <a:tab pos="457200" algn="l"/>
              </a:tabLst>
            </a:pPr>
            <a:r>
              <a:rPr lang="en-US" sz="1600" b="1" dirty="0"/>
              <a:t>Data Preprocessing</a:t>
            </a:r>
            <a:r>
              <a:rPr lang="en-US" sz="1600" dirty="0"/>
              <a:t>: Hyperspectral data is normalized and prepared for input into the model.</a:t>
            </a:r>
          </a:p>
          <a:p>
            <a:pPr>
              <a:spcAft>
                <a:spcPts val="1000"/>
              </a:spcAft>
              <a:tabLst>
                <a:tab pos="457200" algn="l"/>
              </a:tabLst>
            </a:pPr>
            <a:r>
              <a:rPr lang="en-US" sz="1600" b="1" dirty="0"/>
              <a:t>Variational Autoencoder Initialization</a:t>
            </a:r>
            <a:r>
              <a:rPr lang="en-US" sz="1600" dirty="0"/>
              <a:t>: VAE encodes spectral pixels into a compact latent space using neural layers.</a:t>
            </a:r>
            <a:endParaRPr lang="en-US" dirty="0"/>
          </a:p>
          <a:p>
            <a:pPr>
              <a:spcAft>
                <a:spcPts val="1000"/>
              </a:spcAft>
              <a:tabLst>
                <a:tab pos="457200" algn="l"/>
              </a:tabLst>
            </a:pPr>
            <a:r>
              <a:rPr lang="en-US" sz="1600" b="1" dirty="0"/>
              <a:t>Latent Representation Learning: The</a:t>
            </a:r>
            <a:r>
              <a:rPr lang="en-US" sz="1600" dirty="0"/>
              <a:t> encoder learns mean and variance for latent variables using reparameterization.</a:t>
            </a:r>
          </a:p>
          <a:p>
            <a:pPr>
              <a:spcAft>
                <a:spcPts val="1000"/>
              </a:spcAft>
              <a:tabLst>
                <a:tab pos="457200" algn="l"/>
              </a:tabLst>
            </a:pPr>
            <a:r>
              <a:rPr lang="en-IN" sz="1600" b="1" dirty="0"/>
              <a:t>Spectral Reconstruction: Decoder</a:t>
            </a:r>
            <a:r>
              <a:rPr lang="en-IN" sz="1600" dirty="0"/>
              <a:t> reconstructs original spectra from latent vectors, minimizing reconstruction loss.</a:t>
            </a:r>
          </a:p>
          <a:p>
            <a:pPr>
              <a:spcAft>
                <a:spcPts val="1000"/>
              </a:spcAft>
              <a:tabLst>
                <a:tab pos="457200" algn="l"/>
              </a:tabLst>
            </a:pPr>
            <a:r>
              <a:rPr lang="en-IN" sz="1600" b="1" dirty="0"/>
              <a:t>Loss Computation: Combines</a:t>
            </a:r>
            <a:r>
              <a:rPr lang="en-IN" sz="1600" dirty="0"/>
              <a:t> reconstruction, KL divergence, SAD, and volume regularization losses.</a:t>
            </a:r>
            <a:endParaRPr lang="en-IN" dirty="0"/>
          </a:p>
          <a:p>
            <a:pPr>
              <a:spcAft>
                <a:spcPts val="1000"/>
              </a:spcAft>
              <a:tabLst>
                <a:tab pos="457200" algn="l"/>
              </a:tabLst>
            </a:pPr>
            <a:r>
              <a:rPr lang="en-IN" sz="1600" b="1" dirty="0"/>
              <a:t>Self-Adaptive SBX Optimization: Dynamically</a:t>
            </a:r>
            <a:r>
              <a:rPr lang="en-IN" sz="1600" dirty="0"/>
              <a:t> adjusts loss weights (</a:t>
            </a:r>
            <a:r>
              <a:rPr lang="el-GR" sz="1600" dirty="0"/>
              <a:t>λ_</a:t>
            </a:r>
            <a:r>
              <a:rPr lang="en-IN" sz="1600" dirty="0"/>
              <a:t>kl, </a:t>
            </a:r>
            <a:r>
              <a:rPr lang="el-GR" sz="1600" dirty="0"/>
              <a:t>λ_</a:t>
            </a:r>
            <a:r>
              <a:rPr lang="en-IN" sz="1600" dirty="0"/>
              <a:t>sad, </a:t>
            </a:r>
            <a:r>
              <a:rPr lang="el-GR" sz="1600" dirty="0"/>
              <a:t>λ_</a:t>
            </a:r>
            <a:r>
              <a:rPr lang="en-IN" sz="1600" dirty="0"/>
              <a:t>vol) using SBX strategy.</a:t>
            </a:r>
          </a:p>
          <a:p>
            <a:pPr>
              <a:spcAft>
                <a:spcPts val="1000"/>
              </a:spcAft>
              <a:tabLst>
                <a:tab pos="457200" algn="l"/>
              </a:tabLst>
            </a:pPr>
            <a:r>
              <a:rPr lang="en-US" sz="1600" b="1" dirty="0"/>
              <a:t>Abundance Estimation and Signature Extraction</a:t>
            </a:r>
            <a:r>
              <a:rPr lang="en-US" sz="1600" dirty="0"/>
              <a:t>:</a:t>
            </a:r>
            <a:br>
              <a:rPr lang="en-US" sz="1600" dirty="0"/>
            </a:br>
            <a:r>
              <a:rPr lang="en-US" sz="1600" dirty="0"/>
              <a:t>Outputs material abundances and extracts refined endmember spectral signatures.</a:t>
            </a:r>
            <a:endParaRPr lang="en-IN" sz="1300" dirty="0"/>
          </a:p>
          <a:p>
            <a:endParaRPr lang="en-IN" sz="1300" dirty="0"/>
          </a:p>
        </p:txBody>
      </p:sp>
    </p:spTree>
    <p:extLst>
      <p:ext uri="{BB962C8B-B14F-4D97-AF65-F5344CB8AC3E}">
        <p14:creationId xmlns:p14="http://schemas.microsoft.com/office/powerpoint/2010/main" val="1515734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76A1C-BB28-4D71-9540-9D97F679D504}"/>
              </a:ext>
            </a:extLst>
          </p:cNvPr>
          <p:cNvSpPr>
            <a:spLocks noGrp="1"/>
          </p:cNvSpPr>
          <p:nvPr>
            <p:ph type="title"/>
          </p:nvPr>
        </p:nvSpPr>
        <p:spPr/>
        <p:txBody>
          <a:bodyPr/>
          <a:lstStyle/>
          <a:p>
            <a:r>
              <a:rPr lang="en-US" dirty="0"/>
              <a:t>Literature Survey</a:t>
            </a:r>
            <a:endParaRPr lang="en-IN" dirty="0"/>
          </a:p>
        </p:txBody>
      </p:sp>
      <p:sp>
        <p:nvSpPr>
          <p:cNvPr id="3" name="Content Placeholder 2">
            <a:extLst>
              <a:ext uri="{FF2B5EF4-FFF2-40B4-BE49-F238E27FC236}">
                <a16:creationId xmlns:a16="http://schemas.microsoft.com/office/drawing/2014/main" id="{4757B0FA-1500-4DB7-5961-22FAB29D0FFF}"/>
              </a:ext>
            </a:extLst>
          </p:cNvPr>
          <p:cNvSpPr>
            <a:spLocks noGrp="1"/>
          </p:cNvSpPr>
          <p:nvPr>
            <p:ph idx="1"/>
          </p:nvPr>
        </p:nvSpPr>
        <p:spPr>
          <a:xfrm>
            <a:off x="335666" y="1365814"/>
            <a:ext cx="11655706" cy="5492186"/>
          </a:xfrm>
        </p:spPr>
        <p:txBody>
          <a:bodyPr>
            <a:normAutofit fontScale="77500" lnSpcReduction="20000"/>
          </a:bodyPr>
          <a:lstStyle/>
          <a:p>
            <a:pPr marL="0" indent="0">
              <a:buNone/>
            </a:pPr>
            <a:r>
              <a:rPr lang="en-IN" dirty="0"/>
              <a:t>1.Challenges in Hyperspectral Imaging:</a:t>
            </a:r>
          </a:p>
          <a:p>
            <a:pPr marL="0" indent="0">
              <a:buNone/>
            </a:pPr>
            <a:r>
              <a:rPr lang="en-US" dirty="0"/>
              <a:t>Mixed Pixels: Real-world observed pixels are often mixtures of multiple spectral signatures.</a:t>
            </a:r>
          </a:p>
          <a:p>
            <a:pPr marL="0" indent="0">
              <a:buNone/>
            </a:pPr>
            <a:r>
              <a:rPr lang="en-US" dirty="0"/>
              <a:t>Hyperspectral Unmixing (HU): Decomposes mixed pixels into endmembers and their corresponding abundances</a:t>
            </a:r>
          </a:p>
          <a:p>
            <a:pPr marL="0" indent="0">
              <a:buNone/>
            </a:pPr>
            <a:r>
              <a:rPr lang="en-IN" dirty="0"/>
              <a:t>2. Classical Unmixing Methods:</a:t>
            </a:r>
          </a:p>
          <a:p>
            <a:pPr marL="0" indent="0">
              <a:buNone/>
            </a:pPr>
            <a:r>
              <a:rPr lang="en-US" dirty="0"/>
              <a:t>Linear Mixing Models (Keshava &amp; Mustard, 2002): Assume spectral responses are weighted sums of endmembers.</a:t>
            </a:r>
          </a:p>
          <a:p>
            <a:pPr marL="0" indent="0">
              <a:buNone/>
            </a:pPr>
            <a:r>
              <a:rPr lang="en-US" dirty="0"/>
              <a:t>Challenges: Struggles with nonlinearities and spectral variability.</a:t>
            </a:r>
          </a:p>
          <a:p>
            <a:pPr marL="0" indent="0">
              <a:buNone/>
            </a:pPr>
            <a:r>
              <a:rPr lang="en-US" dirty="0"/>
              <a:t>3. </a:t>
            </a:r>
            <a:r>
              <a:rPr lang="en-IN" dirty="0"/>
              <a:t>Nonlinear Unmixing Methods:</a:t>
            </a:r>
          </a:p>
          <a:p>
            <a:pPr marL="0" indent="0">
              <a:buNone/>
            </a:pPr>
            <a:r>
              <a:rPr lang="en-IN" dirty="0"/>
              <a:t>Vertex Component Analysis (VCA) (Nascimento &amp; Dias, 2005): A fast linear unmixing method assuming pure pixels.</a:t>
            </a:r>
          </a:p>
          <a:p>
            <a:pPr marL="0" indent="0">
              <a:buNone/>
            </a:pPr>
            <a:r>
              <a:rPr lang="en-US" dirty="0"/>
              <a:t>Manifold Learning (Lu et al., 2008): Improved representation of data geometry for better unmixing</a:t>
            </a:r>
            <a:endParaRPr lang="en-IN" dirty="0"/>
          </a:p>
          <a:p>
            <a:pPr marL="0" indent="0">
              <a:buClr>
                <a:schemeClr val="tx1"/>
              </a:buClr>
              <a:buNone/>
            </a:pPr>
            <a:endParaRPr lang="en-US" dirty="0"/>
          </a:p>
          <a:p>
            <a:pPr marL="0" indent="0">
              <a:buClr>
                <a:schemeClr val="tx1"/>
              </a:buClr>
              <a:buNone/>
            </a:pPr>
            <a:endParaRPr lang="en-IN" dirty="0"/>
          </a:p>
        </p:txBody>
      </p:sp>
    </p:spTree>
    <p:extLst>
      <p:ext uri="{BB962C8B-B14F-4D97-AF65-F5344CB8AC3E}">
        <p14:creationId xmlns:p14="http://schemas.microsoft.com/office/powerpoint/2010/main" val="458055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6F03F-0AFE-AE5F-6D7A-813432033D1B}"/>
              </a:ext>
            </a:extLst>
          </p:cNvPr>
          <p:cNvSpPr>
            <a:spLocks noGrp="1"/>
          </p:cNvSpPr>
          <p:nvPr>
            <p:ph type="title"/>
          </p:nvPr>
        </p:nvSpPr>
        <p:spPr/>
        <p:txBody>
          <a:bodyPr/>
          <a:lstStyle/>
          <a:p>
            <a:r>
              <a:rPr lang="en-US" dirty="0"/>
              <a:t>Literature Survey</a:t>
            </a:r>
            <a:endParaRPr lang="en-IN" dirty="0"/>
          </a:p>
        </p:txBody>
      </p:sp>
      <p:sp>
        <p:nvSpPr>
          <p:cNvPr id="3" name="Content Placeholder 2">
            <a:extLst>
              <a:ext uri="{FF2B5EF4-FFF2-40B4-BE49-F238E27FC236}">
                <a16:creationId xmlns:a16="http://schemas.microsoft.com/office/drawing/2014/main" id="{EC9479D1-544D-8674-653E-119245E43646}"/>
              </a:ext>
            </a:extLst>
          </p:cNvPr>
          <p:cNvSpPr>
            <a:spLocks noGrp="1"/>
          </p:cNvSpPr>
          <p:nvPr>
            <p:ph idx="1"/>
          </p:nvPr>
        </p:nvSpPr>
        <p:spPr>
          <a:xfrm>
            <a:off x="458694" y="1458410"/>
            <a:ext cx="11532678" cy="5590572"/>
          </a:xfrm>
        </p:spPr>
        <p:txBody>
          <a:bodyPr>
            <a:normAutofit fontScale="70000" lnSpcReduction="20000"/>
          </a:bodyPr>
          <a:lstStyle/>
          <a:p>
            <a:pPr marL="0" indent="0">
              <a:buNone/>
            </a:pPr>
            <a:r>
              <a:rPr lang="en-US" dirty="0"/>
              <a:t>4. Integration of Deep Learning in HU:</a:t>
            </a:r>
          </a:p>
          <a:p>
            <a:pPr marL="0" indent="0">
              <a:buNone/>
            </a:pPr>
            <a:r>
              <a:rPr lang="en-IN" dirty="0"/>
              <a:t>Convolutional Neural Networks (CNNs) (Zhang et al., 2018; Bhatt &amp; Joshi, 2019): Leveraged for spatial-spectral feature extraction.</a:t>
            </a:r>
            <a:endParaRPr lang="en-US" dirty="0"/>
          </a:p>
          <a:p>
            <a:pPr marL="0" indent="0">
              <a:buNone/>
            </a:pPr>
            <a:r>
              <a:rPr lang="en-US" dirty="0"/>
              <a:t>Self-Supervised Frameworks (Hong et al., 2020): EGU-Net regularizes learning using endmember priors.</a:t>
            </a:r>
          </a:p>
          <a:p>
            <a:pPr marL="0" indent="0">
              <a:buNone/>
            </a:pPr>
            <a:r>
              <a:rPr lang="en-IN" dirty="0"/>
              <a:t>5. Probabilistic Models:</a:t>
            </a:r>
          </a:p>
          <a:p>
            <a:pPr marL="0" indent="0">
              <a:buNone/>
            </a:pPr>
            <a:r>
              <a:rPr lang="en-US" dirty="0"/>
              <a:t>Autoencoders (AEs): Used to encode abundances and reconstruct hyperspectral data nonlinearly (Palsson et al., 2017).</a:t>
            </a:r>
          </a:p>
          <a:p>
            <a:pPr marL="0" indent="0">
              <a:buNone/>
            </a:pPr>
            <a:r>
              <a:rPr lang="en-IN" dirty="0"/>
              <a:t>Variational Autoencoders (VAEs) (Shi et al., 2019): Captures endmember variability and models abundance distributions probabilistically.</a:t>
            </a:r>
          </a:p>
          <a:p>
            <a:pPr marL="0" indent="0">
              <a:buNone/>
            </a:pPr>
            <a:r>
              <a:rPr lang="en-IN" dirty="0"/>
              <a:t>6. Evolutionary Strategies:</a:t>
            </a:r>
          </a:p>
          <a:p>
            <a:pPr marL="0" indent="0">
              <a:buNone/>
            </a:pPr>
            <a:r>
              <a:rPr lang="en-US" dirty="0"/>
              <a:t>Self-Adaptive VAE (Bojanowski et al., 2020): Enhances model expressiveness by balancing reconstruction and information preservation.</a:t>
            </a:r>
          </a:p>
          <a:p>
            <a:pPr marL="0" indent="0">
              <a:buNone/>
            </a:pPr>
            <a:r>
              <a:rPr lang="en-US" dirty="0"/>
              <a:t>Evolutionary Crossover Strategies (Deb et al., 2021): Optimizes deep HU models by tuning neural architecture and parameters.</a:t>
            </a:r>
            <a:endParaRPr lang="en-IN" dirty="0"/>
          </a:p>
        </p:txBody>
      </p:sp>
    </p:spTree>
    <p:extLst>
      <p:ext uri="{BB962C8B-B14F-4D97-AF65-F5344CB8AC3E}">
        <p14:creationId xmlns:p14="http://schemas.microsoft.com/office/powerpoint/2010/main" val="3642051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AEDA5-19B5-B7D8-CDCC-01A865331AC5}"/>
              </a:ext>
            </a:extLst>
          </p:cNvPr>
          <p:cNvSpPr>
            <a:spLocks noGrp="1"/>
          </p:cNvSpPr>
          <p:nvPr>
            <p:ph type="title"/>
          </p:nvPr>
        </p:nvSpPr>
        <p:spPr>
          <a:xfrm>
            <a:off x="123930" y="2518607"/>
            <a:ext cx="3148663" cy="1325563"/>
          </a:xfrm>
        </p:spPr>
        <p:txBody>
          <a:bodyPr/>
          <a:lstStyle/>
          <a:p>
            <a:r>
              <a:rPr lang="en-IN" dirty="0"/>
              <a:t>Architecture</a:t>
            </a:r>
          </a:p>
        </p:txBody>
      </p:sp>
      <p:pic>
        <p:nvPicPr>
          <p:cNvPr id="5" name="Content Placeholder 4" descr="A diagram of a project&#10;&#10;AI-generated content may be incorrect.">
            <a:extLst>
              <a:ext uri="{FF2B5EF4-FFF2-40B4-BE49-F238E27FC236}">
                <a16:creationId xmlns:a16="http://schemas.microsoft.com/office/drawing/2014/main" id="{AC8F1750-E988-E7EC-4C50-5BF5902E74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8487" y="1"/>
            <a:ext cx="8889583" cy="6858000"/>
          </a:xfrm>
        </p:spPr>
      </p:pic>
    </p:spTree>
    <p:extLst>
      <p:ext uri="{BB962C8B-B14F-4D97-AF65-F5344CB8AC3E}">
        <p14:creationId xmlns:p14="http://schemas.microsoft.com/office/powerpoint/2010/main" val="539773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EA41D-61EC-FD93-F83D-586C3EAAE9F1}"/>
              </a:ext>
            </a:extLst>
          </p:cNvPr>
          <p:cNvSpPr>
            <a:spLocks noGrp="1"/>
          </p:cNvSpPr>
          <p:nvPr>
            <p:ph type="title"/>
          </p:nvPr>
        </p:nvSpPr>
        <p:spPr>
          <a:xfrm>
            <a:off x="458694" y="365760"/>
            <a:ext cx="10895106" cy="961595"/>
          </a:xfrm>
        </p:spPr>
        <p:txBody>
          <a:bodyPr/>
          <a:lstStyle/>
          <a:p>
            <a:r>
              <a:rPr lang="en-US" dirty="0"/>
              <a:t>Experimental Setup</a:t>
            </a:r>
            <a:endParaRPr lang="en-IN" dirty="0"/>
          </a:p>
        </p:txBody>
      </p:sp>
      <p:sp>
        <p:nvSpPr>
          <p:cNvPr id="3" name="Content Placeholder 2">
            <a:extLst>
              <a:ext uri="{FF2B5EF4-FFF2-40B4-BE49-F238E27FC236}">
                <a16:creationId xmlns:a16="http://schemas.microsoft.com/office/drawing/2014/main" id="{51A775AD-6F99-24A8-2469-235999B8A7A0}"/>
              </a:ext>
            </a:extLst>
          </p:cNvPr>
          <p:cNvSpPr>
            <a:spLocks noGrp="1"/>
          </p:cNvSpPr>
          <p:nvPr>
            <p:ph idx="1"/>
          </p:nvPr>
        </p:nvSpPr>
        <p:spPr>
          <a:xfrm>
            <a:off x="383458" y="1327355"/>
            <a:ext cx="11592232" cy="5260257"/>
          </a:xfrm>
        </p:spPr>
        <p:txBody>
          <a:bodyPr/>
          <a:lstStyle/>
          <a:p>
            <a:pPr marL="228600" indent="228600" algn="just">
              <a:lnSpc>
                <a:spcPct val="115000"/>
              </a:lnSpc>
              <a:spcAft>
                <a:spcPts val="1000"/>
              </a:spcAft>
              <a:buNone/>
            </a:pPr>
            <a:r>
              <a:rPr lang="en-US" sz="1800" b="1" dirty="0">
                <a:effectLst/>
                <a:latin typeface="Times New Roman" panose="02020603050405020304" pitchFamily="18" charset="0"/>
                <a:ea typeface="Times New Roman" panose="02020603050405020304" pitchFamily="18" charset="0"/>
                <a:cs typeface="Gautami" panose="020B0502040204020203" pitchFamily="34" charset="0"/>
              </a:rPr>
              <a:t>Software Specifications</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pPr marL="342900" lvl="0" indent="-342900" algn="just">
              <a:lnSpc>
                <a:spcPct val="115000"/>
              </a:lnSpc>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cs typeface="Gautami" panose="020B0502040204020203" pitchFamily="34" charset="0"/>
              </a:rPr>
              <a:t>Operating System:</a:t>
            </a: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 Windows, Linux</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pPr marL="342900" lvl="0" indent="-342900" algn="just">
              <a:lnSpc>
                <a:spcPct val="115000"/>
              </a:lnSpc>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cs typeface="Gautami" panose="020B0502040204020203" pitchFamily="34" charset="0"/>
              </a:rPr>
              <a:t>Python Version: </a:t>
            </a: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&gt;=3.8</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pPr marL="342900" lvl="0" indent="-342900" algn="just">
              <a:lnSpc>
                <a:spcPct val="115000"/>
              </a:lnSpc>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cs typeface="Gautami" panose="020B0502040204020203" pitchFamily="34" charset="0"/>
              </a:rPr>
              <a:t>Frameworks and Libraries: </a:t>
            </a: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NumPy, </a:t>
            </a:r>
            <a:r>
              <a:rPr lang="en-US" sz="1800" dirty="0" err="1">
                <a:effectLst/>
                <a:latin typeface="Times New Roman" panose="02020603050405020304" pitchFamily="18" charset="0"/>
                <a:ea typeface="Times New Roman" panose="02020603050405020304" pitchFamily="18" charset="0"/>
                <a:cs typeface="Gautami" panose="020B0502040204020203" pitchFamily="34" charset="0"/>
              </a:rPr>
              <a:t>PyTorch</a:t>
            </a: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 Matplotlib, Scikit-learn</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pPr marL="342900" lvl="0" indent="-342900" algn="just">
              <a:lnSpc>
                <a:spcPct val="115000"/>
              </a:lnSpc>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cs typeface="Gautami" panose="020B0502040204020203" pitchFamily="34" charset="0"/>
              </a:rPr>
              <a:t>MLOPs: </a:t>
            </a:r>
            <a:r>
              <a:rPr lang="en-US" sz="1800" dirty="0" err="1">
                <a:effectLst/>
                <a:latin typeface="Times New Roman" panose="02020603050405020304" pitchFamily="18" charset="0"/>
                <a:ea typeface="Times New Roman" panose="02020603050405020304" pitchFamily="18" charset="0"/>
                <a:cs typeface="Gautami" panose="020B0502040204020203" pitchFamily="34" charset="0"/>
              </a:rPr>
              <a:t>wandb</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pPr marL="342900" lvl="0" indent="-342900" algn="just">
              <a:lnSpc>
                <a:spcPct val="115000"/>
              </a:lnSpc>
              <a:spcAft>
                <a:spcPts val="1000"/>
              </a:spcAft>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cs typeface="Gautami" panose="020B0502040204020203" pitchFamily="34" charset="0"/>
              </a:rPr>
              <a:t>Development Tools</a:t>
            </a: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 Jupyter Notebook, VS Code, Git</a:t>
            </a:r>
            <a:r>
              <a:rPr lang="en-US" sz="1800" b="1" dirty="0">
                <a:effectLst/>
                <a:latin typeface="Times New Roman" panose="02020603050405020304" pitchFamily="18" charset="0"/>
                <a:ea typeface="Times New Roman" panose="02020603050405020304" pitchFamily="18" charset="0"/>
                <a:cs typeface="Gautami" panose="020B0502040204020203" pitchFamily="34" charset="0"/>
              </a:rPr>
              <a:t> </a:t>
            </a:r>
            <a:endParaRPr lang="en-IN" sz="1800" dirty="0">
              <a:latin typeface="Calibri" panose="020F0502020204030204" pitchFamily="34" charset="0"/>
              <a:ea typeface="Times New Roman" panose="02020603050405020304" pitchFamily="18" charset="0"/>
              <a:cs typeface="Gautami" panose="020B0502040204020203" pitchFamily="34" charset="0"/>
            </a:endParaRPr>
          </a:p>
          <a:p>
            <a:pPr marL="0" lvl="0" indent="0" algn="just">
              <a:lnSpc>
                <a:spcPct val="115000"/>
              </a:lnSpc>
              <a:spcAft>
                <a:spcPts val="1000"/>
              </a:spcAft>
              <a:buNone/>
            </a:pPr>
            <a:r>
              <a:rPr lang="en-US" sz="1800" b="1" dirty="0">
                <a:effectLst/>
                <a:latin typeface="Times New Roman" panose="02020603050405020304" pitchFamily="18" charset="0"/>
                <a:ea typeface="Times New Roman" panose="02020603050405020304" pitchFamily="18" charset="0"/>
                <a:cs typeface="Gautami" panose="020B0502040204020203" pitchFamily="34" charset="0"/>
              </a:rPr>
              <a:t>Hardware Specifications</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pPr marL="342900" lvl="0" indent="-342900" algn="just">
              <a:lnSpc>
                <a:spcPct val="115000"/>
              </a:lnSpc>
              <a:spcBef>
                <a:spcPts val="1200"/>
              </a:spcBef>
              <a:spcAft>
                <a:spcPts val="1000"/>
              </a:spcAft>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cs typeface="Gautami" panose="020B0502040204020203" pitchFamily="34" charset="0"/>
              </a:rPr>
              <a:t>Processor (CPU)</a:t>
            </a: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 Intel Core i5</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pPr marL="342900" lvl="0" indent="-342900" algn="just">
              <a:lnSpc>
                <a:spcPct val="115000"/>
              </a:lnSpc>
              <a:spcAft>
                <a:spcPts val="1000"/>
              </a:spcAft>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cs typeface="Gautami" panose="020B0502040204020203" pitchFamily="34" charset="0"/>
              </a:rPr>
              <a:t>Graphics Card (GPU)</a:t>
            </a: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 NVIDIA RTX 3060 or higher with 12GB VRAM for deep learning tasks</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pPr marL="342900" lvl="0" indent="-342900" algn="just">
              <a:lnSpc>
                <a:spcPct val="115000"/>
              </a:lnSpc>
              <a:spcAft>
                <a:spcPts val="1200"/>
              </a:spcAft>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cs typeface="Gautami" panose="020B0502040204020203" pitchFamily="34" charset="0"/>
              </a:rPr>
              <a:t>RAM</a:t>
            </a:r>
            <a:r>
              <a:rPr lang="en-US" sz="1800" dirty="0">
                <a:effectLst/>
                <a:latin typeface="Times New Roman" panose="02020603050405020304" pitchFamily="18" charset="0"/>
                <a:ea typeface="Times New Roman" panose="02020603050405020304" pitchFamily="18" charset="0"/>
                <a:cs typeface="Gautami" panose="020B0502040204020203" pitchFamily="34" charset="0"/>
              </a:rPr>
              <a:t>: Minimum 16GB (32GB recommended for large datasets)</a:t>
            </a:r>
            <a:endParaRPr lang="en-IN" sz="1800" dirty="0">
              <a:effectLst/>
              <a:latin typeface="Calibri" panose="020F0502020204030204" pitchFamily="34" charset="0"/>
              <a:ea typeface="Times New Roman" panose="02020603050405020304" pitchFamily="18" charset="0"/>
              <a:cs typeface="Gautami" panose="020B0502040204020203" pitchFamily="34" charset="0"/>
            </a:endParaRPr>
          </a:p>
          <a:p>
            <a:endParaRPr lang="en-IN" dirty="0"/>
          </a:p>
        </p:txBody>
      </p:sp>
    </p:spTree>
    <p:extLst>
      <p:ext uri="{BB962C8B-B14F-4D97-AF65-F5344CB8AC3E}">
        <p14:creationId xmlns:p14="http://schemas.microsoft.com/office/powerpoint/2010/main" val="2088290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5A00C-A08D-5635-303D-88377879B015}"/>
              </a:ext>
            </a:extLst>
          </p:cNvPr>
          <p:cNvSpPr>
            <a:spLocks noGrp="1"/>
          </p:cNvSpPr>
          <p:nvPr>
            <p:ph type="title"/>
          </p:nvPr>
        </p:nvSpPr>
        <p:spPr/>
        <p:txBody>
          <a:bodyPr/>
          <a:lstStyle/>
          <a:p>
            <a:r>
              <a:rPr lang="en-IN" dirty="0"/>
              <a:t>Dataset Description</a:t>
            </a:r>
          </a:p>
        </p:txBody>
      </p:sp>
      <p:sp>
        <p:nvSpPr>
          <p:cNvPr id="3" name="Content Placeholder 2">
            <a:extLst>
              <a:ext uri="{FF2B5EF4-FFF2-40B4-BE49-F238E27FC236}">
                <a16:creationId xmlns:a16="http://schemas.microsoft.com/office/drawing/2014/main" id="{447D74F6-A50C-EA6F-FDD8-EA1C7D0D9921}"/>
              </a:ext>
            </a:extLst>
          </p:cNvPr>
          <p:cNvSpPr>
            <a:spLocks noGrp="1"/>
          </p:cNvSpPr>
          <p:nvPr>
            <p:ph idx="1"/>
          </p:nvPr>
        </p:nvSpPr>
        <p:spPr>
          <a:xfrm>
            <a:off x="363794" y="1494504"/>
            <a:ext cx="11464412" cy="5135388"/>
          </a:xfrm>
        </p:spPr>
        <p:txBody>
          <a:bodyPr>
            <a:normAutofit fontScale="92500" lnSpcReduction="20000"/>
          </a:bodyPr>
          <a:lstStyle/>
          <a:p>
            <a:r>
              <a:rPr lang="en-IN" dirty="0"/>
              <a:t>Jasper Ridge Dataset Characteristics: </a:t>
            </a:r>
          </a:p>
          <a:p>
            <a:r>
              <a:rPr lang="en-IN" dirty="0"/>
              <a:t>Type: Hyperspectral dataset with high spectral resolution. </a:t>
            </a:r>
          </a:p>
          <a:p>
            <a:r>
              <a:rPr lang="en-IN" dirty="0"/>
              <a:t> Components:</a:t>
            </a:r>
          </a:p>
          <a:p>
            <a:pPr marL="0" indent="0">
              <a:buNone/>
            </a:pPr>
            <a:r>
              <a:rPr lang="en-IN" dirty="0"/>
              <a:t>	Mixed Pixels: Spectral signatures are mixtures of different endmembers (e.g., 	Tree, Water, Dirt and Road).</a:t>
            </a:r>
          </a:p>
          <a:p>
            <a:pPr marL="0" indent="0">
              <a:buNone/>
            </a:pPr>
            <a:r>
              <a:rPr lang="en-IN" dirty="0"/>
              <a:t>	Endmembers: Pure spectral signatures of materials being unmixed.</a:t>
            </a:r>
          </a:p>
          <a:p>
            <a:pPr marL="0" indent="0">
              <a:buNone/>
            </a:pPr>
            <a:r>
              <a:rPr lang="en-IN" dirty="0"/>
              <a:t>Wavelength Range: 400 nm to 2500 nm (visible to shortwave infrared).</a:t>
            </a:r>
          </a:p>
          <a:p>
            <a:pPr marL="0" indent="0">
              <a:buNone/>
            </a:pPr>
            <a:r>
              <a:rPr lang="en-IN" dirty="0"/>
              <a:t> Spectral Bands: 224 bands (usable bands reduced due to noise and water absorption). </a:t>
            </a:r>
          </a:p>
          <a:p>
            <a:pPr marL="0" indent="0">
              <a:buNone/>
            </a:pPr>
            <a:r>
              <a:rPr lang="en-IN" dirty="0"/>
              <a:t> Spatial Dimensions: 100 x 100 </a:t>
            </a:r>
          </a:p>
          <a:p>
            <a:pPr marL="0" indent="0">
              <a:buNone/>
            </a:pPr>
            <a:r>
              <a:rPr lang="en-IN" dirty="0"/>
              <a:t>Source: http://www.escience.cn/people/feiyunZHU/Dataset_GT.html</a:t>
            </a:r>
          </a:p>
        </p:txBody>
      </p:sp>
    </p:spTree>
    <p:extLst>
      <p:ext uri="{BB962C8B-B14F-4D97-AF65-F5344CB8AC3E}">
        <p14:creationId xmlns:p14="http://schemas.microsoft.com/office/powerpoint/2010/main" val="2083273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C907F72-0076-A39F-F16E-4D7416C9945F}"/>
              </a:ext>
            </a:extLst>
          </p:cNvPr>
          <p:cNvSpPr>
            <a:spLocks noGrp="1"/>
          </p:cNvSpPr>
          <p:nvPr>
            <p:ph idx="1"/>
          </p:nvPr>
        </p:nvSpPr>
        <p:spPr>
          <a:xfrm>
            <a:off x="229347" y="1818640"/>
            <a:ext cx="11733306" cy="5039360"/>
          </a:xfrm>
        </p:spPr>
        <p:txBody>
          <a:bodyPr>
            <a:normAutofit/>
          </a:bodyPr>
          <a:lstStyle/>
          <a:p>
            <a:r>
              <a:rPr lang="en-IN" dirty="0"/>
              <a:t>KL Divergence :</a:t>
            </a:r>
          </a:p>
          <a:p>
            <a:endParaRPr lang="en-IN" dirty="0"/>
          </a:p>
          <a:p>
            <a:r>
              <a:rPr lang="en-IN" dirty="0"/>
              <a:t>Reconstruction loss :   </a:t>
            </a:r>
            <a:br>
              <a:rPr lang="en-IN" dirty="0"/>
            </a:br>
            <a:br>
              <a:rPr lang="en-IN" dirty="0"/>
            </a:br>
            <a:r>
              <a:rPr lang="en-IN" dirty="0"/>
              <a:t>SAD Loss :</a:t>
            </a:r>
            <a:br>
              <a:rPr lang="en-IN" dirty="0"/>
            </a:br>
            <a:br>
              <a:rPr lang="en-IN" dirty="0"/>
            </a:br>
            <a:r>
              <a:rPr lang="en-IN" dirty="0"/>
              <a:t>Loss Function :</a:t>
            </a:r>
            <a:br>
              <a:rPr lang="en-IN" dirty="0"/>
            </a:br>
            <a:br>
              <a:rPr lang="en-IN" dirty="0"/>
            </a:br>
            <a:r>
              <a:rPr lang="en-IN" dirty="0"/>
              <a:t>Fitness Function: 1/Loss Function     </a:t>
            </a:r>
          </a:p>
        </p:txBody>
      </p:sp>
      <p:pic>
        <p:nvPicPr>
          <p:cNvPr id="10" name="Content Placeholder 6">
            <a:extLst>
              <a:ext uri="{FF2B5EF4-FFF2-40B4-BE49-F238E27FC236}">
                <a16:creationId xmlns:a16="http://schemas.microsoft.com/office/drawing/2014/main" id="{94EAA8DD-B0D3-9CDB-C705-A842EC97B5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17511" y="1949450"/>
            <a:ext cx="4009188" cy="602901"/>
          </a:xfrm>
          <a:prstGeom prst="rect">
            <a:avLst/>
          </a:prstGeom>
        </p:spPr>
      </p:pic>
      <p:pic>
        <p:nvPicPr>
          <p:cNvPr id="12" name="Graphic 11">
            <a:extLst>
              <a:ext uri="{FF2B5EF4-FFF2-40B4-BE49-F238E27FC236}">
                <a16:creationId xmlns:a16="http://schemas.microsoft.com/office/drawing/2014/main" id="{EAC9FC1E-CB25-4643-CF10-2521CAF18B7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38976" y="3086902"/>
            <a:ext cx="2166257" cy="684196"/>
          </a:xfrm>
          <a:prstGeom prst="rect">
            <a:avLst/>
          </a:prstGeom>
        </p:spPr>
      </p:pic>
      <p:pic>
        <p:nvPicPr>
          <p:cNvPr id="14" name="Graphic 13">
            <a:extLst>
              <a:ext uri="{FF2B5EF4-FFF2-40B4-BE49-F238E27FC236}">
                <a16:creationId xmlns:a16="http://schemas.microsoft.com/office/drawing/2014/main" id="{B38EA31F-83DC-8D3B-ED5C-72047CE3BFF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94187" y="4101132"/>
            <a:ext cx="2763035" cy="684196"/>
          </a:xfrm>
          <a:prstGeom prst="rect">
            <a:avLst/>
          </a:prstGeom>
        </p:spPr>
      </p:pic>
      <p:pic>
        <p:nvPicPr>
          <p:cNvPr id="16" name="Graphic 15">
            <a:extLst>
              <a:ext uri="{FF2B5EF4-FFF2-40B4-BE49-F238E27FC236}">
                <a16:creationId xmlns:a16="http://schemas.microsoft.com/office/drawing/2014/main" id="{4AD2DB99-4E54-6117-9CFD-681A7CACA7B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750239" y="5559786"/>
            <a:ext cx="8983067" cy="278305"/>
          </a:xfrm>
          <a:prstGeom prst="rect">
            <a:avLst/>
          </a:prstGeom>
        </p:spPr>
      </p:pic>
      <p:sp>
        <p:nvSpPr>
          <p:cNvPr id="3" name="Title 1">
            <a:extLst>
              <a:ext uri="{FF2B5EF4-FFF2-40B4-BE49-F238E27FC236}">
                <a16:creationId xmlns:a16="http://schemas.microsoft.com/office/drawing/2014/main" id="{2C5AEDA5-19B5-B7D8-CDCC-01A865331AC5}"/>
              </a:ext>
            </a:extLst>
          </p:cNvPr>
          <p:cNvSpPr>
            <a:spLocks noGrp="1"/>
          </p:cNvSpPr>
          <p:nvPr>
            <p:ph type="title"/>
          </p:nvPr>
        </p:nvSpPr>
        <p:spPr>
          <a:xfrm>
            <a:off x="330407" y="242215"/>
            <a:ext cx="3148663" cy="1325563"/>
          </a:xfrm>
        </p:spPr>
        <p:txBody>
          <a:bodyPr>
            <a:normAutofit fontScale="90000"/>
          </a:bodyPr>
          <a:lstStyle/>
          <a:p>
            <a:r>
              <a:rPr lang="en-US" dirty="0"/>
              <a:t>Evaluation Metrics</a:t>
            </a:r>
            <a:endParaRPr lang="en-IN" dirty="0"/>
          </a:p>
        </p:txBody>
      </p:sp>
    </p:spTree>
    <p:extLst>
      <p:ext uri="{BB962C8B-B14F-4D97-AF65-F5344CB8AC3E}">
        <p14:creationId xmlns:p14="http://schemas.microsoft.com/office/powerpoint/2010/main" val="543159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B25B3-E012-79D3-6B74-71D2DE8C0C95}"/>
              </a:ext>
            </a:extLst>
          </p:cNvPr>
          <p:cNvSpPr>
            <a:spLocks noGrp="1"/>
          </p:cNvSpPr>
          <p:nvPr>
            <p:ph type="ctrTitle"/>
          </p:nvPr>
        </p:nvSpPr>
        <p:spPr>
          <a:xfrm>
            <a:off x="301450" y="47432"/>
            <a:ext cx="8879393" cy="773723"/>
          </a:xfrm>
        </p:spPr>
        <p:txBody>
          <a:bodyPr>
            <a:normAutofit/>
          </a:bodyPr>
          <a:lstStyle/>
          <a:p>
            <a:pPr algn="l"/>
            <a:r>
              <a:rPr lang="en-IN" dirty="0"/>
              <a:t>Results</a:t>
            </a:r>
          </a:p>
        </p:txBody>
      </p:sp>
      <p:sp>
        <p:nvSpPr>
          <p:cNvPr id="3" name="Subtitle 2">
            <a:extLst>
              <a:ext uri="{FF2B5EF4-FFF2-40B4-BE49-F238E27FC236}">
                <a16:creationId xmlns:a16="http://schemas.microsoft.com/office/drawing/2014/main" id="{7EEBC3DF-2F26-D9AE-B068-73C5C5F9ABEA}"/>
              </a:ext>
            </a:extLst>
          </p:cNvPr>
          <p:cNvSpPr>
            <a:spLocks noGrp="1"/>
          </p:cNvSpPr>
          <p:nvPr>
            <p:ph type="subTitle" idx="1"/>
          </p:nvPr>
        </p:nvSpPr>
        <p:spPr>
          <a:xfrm>
            <a:off x="-157316" y="2674374"/>
            <a:ext cx="4807974" cy="2180303"/>
          </a:xfrm>
        </p:spPr>
        <p:txBody>
          <a:bodyPr>
            <a:normAutofit/>
          </a:bodyPr>
          <a:lstStyle/>
          <a:p>
            <a:endParaRPr lang="en-IN" dirty="0"/>
          </a:p>
        </p:txBody>
      </p:sp>
      <p:graphicFrame>
        <p:nvGraphicFramePr>
          <p:cNvPr id="6" name="Table 5">
            <a:extLst>
              <a:ext uri="{FF2B5EF4-FFF2-40B4-BE49-F238E27FC236}">
                <a16:creationId xmlns:a16="http://schemas.microsoft.com/office/drawing/2014/main" id="{BA5DBCCA-5E92-A5ED-FA2F-62C22CB44261}"/>
              </a:ext>
            </a:extLst>
          </p:cNvPr>
          <p:cNvGraphicFramePr>
            <a:graphicFrameLocks noGrp="1"/>
          </p:cNvGraphicFramePr>
          <p:nvPr>
            <p:extLst>
              <p:ext uri="{D42A27DB-BD31-4B8C-83A1-F6EECF244321}">
                <p14:modId xmlns:p14="http://schemas.microsoft.com/office/powerpoint/2010/main" val="855023914"/>
              </p:ext>
            </p:extLst>
          </p:nvPr>
        </p:nvGraphicFramePr>
        <p:xfrm>
          <a:off x="110726" y="4854677"/>
          <a:ext cx="4539932" cy="365760"/>
        </p:xfrm>
        <a:graphic>
          <a:graphicData uri="http://schemas.openxmlformats.org/drawingml/2006/table">
            <a:tbl>
              <a:tblPr/>
              <a:tblGrid>
                <a:gridCol w="2269966">
                  <a:extLst>
                    <a:ext uri="{9D8B030D-6E8A-4147-A177-3AD203B41FA5}">
                      <a16:colId xmlns:a16="http://schemas.microsoft.com/office/drawing/2014/main" val="2855862155"/>
                    </a:ext>
                  </a:extLst>
                </a:gridCol>
                <a:gridCol w="2269966">
                  <a:extLst>
                    <a:ext uri="{9D8B030D-6E8A-4147-A177-3AD203B41FA5}">
                      <a16:colId xmlns:a16="http://schemas.microsoft.com/office/drawing/2014/main" val="2049463255"/>
                    </a:ext>
                  </a:extLst>
                </a:gridCol>
              </a:tblGrid>
              <a:tr h="0">
                <a:tc>
                  <a:txBody>
                    <a:bodyPr/>
                    <a:lstStyle/>
                    <a:p>
                      <a:endParaRPr lang="en-IN" sz="1800" dirty="0"/>
                    </a:p>
                  </a:txBody>
                  <a:tcPr anchor="ctr">
                    <a:lnL>
                      <a:noFill/>
                    </a:lnL>
                    <a:lnR>
                      <a:noFill/>
                    </a:lnR>
                    <a:lnT>
                      <a:noFill/>
                    </a:lnT>
                    <a:lnB>
                      <a:noFill/>
                    </a:lnB>
                    <a:noFill/>
                  </a:tcPr>
                </a:tc>
                <a:tc>
                  <a:txBody>
                    <a:bodyPr/>
                    <a:lstStyle/>
                    <a:p>
                      <a:endParaRPr lang="en-IN" sz="1800" dirty="0"/>
                    </a:p>
                  </a:txBody>
                  <a:tcPr anchor="ctr">
                    <a:lnL>
                      <a:noFill/>
                    </a:lnL>
                    <a:lnR>
                      <a:noFill/>
                    </a:lnR>
                    <a:lnT>
                      <a:noFill/>
                    </a:lnT>
                    <a:lnB>
                      <a:noFill/>
                    </a:lnB>
                    <a:noFill/>
                  </a:tcPr>
                </a:tc>
                <a:extLst>
                  <a:ext uri="{0D108BD9-81ED-4DB2-BD59-A6C34878D82A}">
                    <a16:rowId xmlns:a16="http://schemas.microsoft.com/office/drawing/2014/main" val="3077748865"/>
                  </a:ext>
                </a:extLst>
              </a:tr>
            </a:tbl>
          </a:graphicData>
        </a:graphic>
      </p:graphicFrame>
      <p:graphicFrame>
        <p:nvGraphicFramePr>
          <p:cNvPr id="7" name="Table 6">
            <a:extLst>
              <a:ext uri="{FF2B5EF4-FFF2-40B4-BE49-F238E27FC236}">
                <a16:creationId xmlns:a16="http://schemas.microsoft.com/office/drawing/2014/main" id="{9568A14E-5A3E-DF5C-DC72-D2BF96E4786C}"/>
              </a:ext>
            </a:extLst>
          </p:cNvPr>
          <p:cNvGraphicFramePr>
            <a:graphicFrameLocks noGrp="1"/>
          </p:cNvGraphicFramePr>
          <p:nvPr>
            <p:extLst>
              <p:ext uri="{D42A27DB-BD31-4B8C-83A1-F6EECF244321}">
                <p14:modId xmlns:p14="http://schemas.microsoft.com/office/powerpoint/2010/main" val="874397220"/>
              </p:ext>
            </p:extLst>
          </p:nvPr>
        </p:nvGraphicFramePr>
        <p:xfrm>
          <a:off x="816077" y="1238865"/>
          <a:ext cx="4237704" cy="3767390"/>
        </p:xfrm>
        <a:graphic>
          <a:graphicData uri="http://schemas.openxmlformats.org/drawingml/2006/table">
            <a:tbl>
              <a:tblPr firstRow="1" firstCol="1" bandRow="1">
                <a:tableStyleId>{5C22544A-7EE6-4342-B048-85BDC9FD1C3A}</a:tableStyleId>
              </a:tblPr>
              <a:tblGrid>
                <a:gridCol w="1892436">
                  <a:extLst>
                    <a:ext uri="{9D8B030D-6E8A-4147-A177-3AD203B41FA5}">
                      <a16:colId xmlns:a16="http://schemas.microsoft.com/office/drawing/2014/main" val="2118645969"/>
                    </a:ext>
                  </a:extLst>
                </a:gridCol>
                <a:gridCol w="2345268">
                  <a:extLst>
                    <a:ext uri="{9D8B030D-6E8A-4147-A177-3AD203B41FA5}">
                      <a16:colId xmlns:a16="http://schemas.microsoft.com/office/drawing/2014/main" val="3269721333"/>
                    </a:ext>
                  </a:extLst>
                </a:gridCol>
              </a:tblGrid>
              <a:tr h="342490">
                <a:tc>
                  <a:txBody>
                    <a:bodyPr/>
                    <a:lstStyle/>
                    <a:p>
                      <a:pPr algn="just">
                        <a:lnSpc>
                          <a:spcPct val="150000"/>
                        </a:lnSpc>
                        <a:spcAft>
                          <a:spcPts val="600"/>
                        </a:spcAft>
                        <a:buNone/>
                      </a:pPr>
                      <a:r>
                        <a:rPr lang="en-IN" sz="1200">
                          <a:effectLst/>
                        </a:rPr>
                        <a:t>Metric</a:t>
                      </a:r>
                      <a:endParaRPr lang="en-IN" sz="12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600"/>
                        </a:spcAft>
                        <a:buNone/>
                      </a:pPr>
                      <a:r>
                        <a:rPr lang="en-IN" sz="1200">
                          <a:effectLst/>
                        </a:rPr>
                        <a:t>Value</a:t>
                      </a:r>
                      <a:endParaRPr lang="en-IN" sz="12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657881330"/>
                  </a:ext>
                </a:extLst>
              </a:tr>
              <a:tr h="342490">
                <a:tc>
                  <a:txBody>
                    <a:bodyPr/>
                    <a:lstStyle/>
                    <a:p>
                      <a:pPr algn="just">
                        <a:lnSpc>
                          <a:spcPct val="150000"/>
                        </a:lnSpc>
                        <a:spcAft>
                          <a:spcPts val="600"/>
                        </a:spcAft>
                        <a:buNone/>
                      </a:pPr>
                      <a:r>
                        <a:rPr lang="en-IN" sz="1200">
                          <a:effectLst/>
                        </a:rPr>
                        <a:t>average_loss</a:t>
                      </a:r>
                      <a:endParaRPr lang="en-IN" sz="12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600"/>
                        </a:spcAft>
                        <a:buNone/>
                      </a:pPr>
                      <a:r>
                        <a:rPr lang="en-IN" sz="1200">
                          <a:effectLst/>
                        </a:rPr>
                        <a:t>0.281</a:t>
                      </a:r>
                      <a:endParaRPr lang="en-IN" sz="12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48879613"/>
                  </a:ext>
                </a:extLst>
              </a:tr>
              <a:tr h="342490">
                <a:tc>
                  <a:txBody>
                    <a:bodyPr/>
                    <a:lstStyle/>
                    <a:p>
                      <a:pPr algn="just">
                        <a:lnSpc>
                          <a:spcPct val="150000"/>
                        </a:lnSpc>
                        <a:spcAft>
                          <a:spcPts val="600"/>
                        </a:spcAft>
                        <a:buNone/>
                      </a:pPr>
                      <a:r>
                        <a:rPr lang="en-IN" sz="1200">
                          <a:effectLst/>
                        </a:rPr>
                        <a:t>kl_div</a:t>
                      </a:r>
                      <a:endParaRPr lang="en-IN" sz="12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600"/>
                        </a:spcAft>
                        <a:buNone/>
                      </a:pPr>
                      <a:r>
                        <a:rPr lang="en-IN" sz="1200" dirty="0">
                          <a:effectLst/>
                        </a:rPr>
                        <a:t>0.20504</a:t>
                      </a:r>
                      <a:endParaRPr lang="en-IN" sz="12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2251655312"/>
                  </a:ext>
                </a:extLst>
              </a:tr>
              <a:tr h="342490">
                <a:tc>
                  <a:txBody>
                    <a:bodyPr/>
                    <a:lstStyle/>
                    <a:p>
                      <a:pPr algn="just">
                        <a:lnSpc>
                          <a:spcPct val="150000"/>
                        </a:lnSpc>
                        <a:spcAft>
                          <a:spcPts val="600"/>
                        </a:spcAft>
                        <a:buNone/>
                      </a:pPr>
                      <a:r>
                        <a:rPr lang="en-IN" sz="1200">
                          <a:effectLst/>
                        </a:rPr>
                        <a:t>lambda_kl</a:t>
                      </a:r>
                      <a:endParaRPr lang="en-IN" sz="12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600"/>
                        </a:spcAft>
                        <a:buNone/>
                      </a:pPr>
                      <a:r>
                        <a:rPr lang="en-IN" sz="1200">
                          <a:effectLst/>
                        </a:rPr>
                        <a:t>0.4</a:t>
                      </a:r>
                      <a:endParaRPr lang="en-IN" sz="12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2215822536"/>
                  </a:ext>
                </a:extLst>
              </a:tr>
              <a:tr h="342490">
                <a:tc>
                  <a:txBody>
                    <a:bodyPr/>
                    <a:lstStyle/>
                    <a:p>
                      <a:pPr algn="just">
                        <a:lnSpc>
                          <a:spcPct val="150000"/>
                        </a:lnSpc>
                        <a:spcAft>
                          <a:spcPts val="600"/>
                        </a:spcAft>
                        <a:buNone/>
                      </a:pPr>
                      <a:r>
                        <a:rPr lang="en-IN" sz="1200">
                          <a:effectLst/>
                        </a:rPr>
                        <a:t>lambda_sad</a:t>
                      </a:r>
                      <a:endParaRPr lang="en-IN" sz="12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600"/>
                        </a:spcAft>
                        <a:buNone/>
                      </a:pPr>
                      <a:r>
                        <a:rPr lang="en-IN" sz="1200">
                          <a:effectLst/>
                        </a:rPr>
                        <a:t>6.24237</a:t>
                      </a:r>
                      <a:endParaRPr lang="en-IN" sz="12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000556441"/>
                  </a:ext>
                </a:extLst>
              </a:tr>
              <a:tr h="342490">
                <a:tc>
                  <a:txBody>
                    <a:bodyPr/>
                    <a:lstStyle/>
                    <a:p>
                      <a:pPr algn="just">
                        <a:lnSpc>
                          <a:spcPct val="150000"/>
                        </a:lnSpc>
                        <a:spcAft>
                          <a:spcPts val="600"/>
                        </a:spcAft>
                        <a:buNone/>
                      </a:pPr>
                      <a:r>
                        <a:rPr lang="en-IN" sz="1200">
                          <a:effectLst/>
                        </a:rPr>
                        <a:t>lambda_vol</a:t>
                      </a:r>
                      <a:endParaRPr lang="en-IN" sz="12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600"/>
                        </a:spcAft>
                        <a:buNone/>
                      </a:pPr>
                      <a:r>
                        <a:rPr lang="en-IN" sz="1200">
                          <a:effectLst/>
                        </a:rPr>
                        <a:t>2.69809</a:t>
                      </a:r>
                      <a:endParaRPr lang="en-IN" sz="12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812228873"/>
                  </a:ext>
                </a:extLst>
              </a:tr>
              <a:tr h="342490">
                <a:tc>
                  <a:txBody>
                    <a:bodyPr/>
                    <a:lstStyle/>
                    <a:p>
                      <a:pPr algn="just">
                        <a:lnSpc>
                          <a:spcPct val="150000"/>
                        </a:lnSpc>
                        <a:spcAft>
                          <a:spcPts val="600"/>
                        </a:spcAft>
                        <a:buNone/>
                      </a:pPr>
                      <a:r>
                        <a:rPr lang="en-IN" sz="1200" dirty="0">
                          <a:effectLst/>
                        </a:rPr>
                        <a:t>loss</a:t>
                      </a:r>
                      <a:endParaRPr lang="en-IN" sz="1200" dirty="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600"/>
                        </a:spcAft>
                        <a:buNone/>
                      </a:pPr>
                      <a:r>
                        <a:rPr lang="en-IN" sz="1200">
                          <a:effectLst/>
                        </a:rPr>
                        <a:t>0.32422</a:t>
                      </a:r>
                      <a:endParaRPr lang="en-IN" sz="12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22560308"/>
                  </a:ext>
                </a:extLst>
              </a:tr>
              <a:tr h="342490">
                <a:tc>
                  <a:txBody>
                    <a:bodyPr/>
                    <a:lstStyle/>
                    <a:p>
                      <a:pPr algn="just">
                        <a:lnSpc>
                          <a:spcPct val="150000"/>
                        </a:lnSpc>
                        <a:spcAft>
                          <a:spcPts val="600"/>
                        </a:spcAft>
                        <a:buNone/>
                      </a:pPr>
                      <a:r>
                        <a:rPr lang="en-IN" sz="1200">
                          <a:effectLst/>
                        </a:rPr>
                        <a:t>loss_minvol</a:t>
                      </a:r>
                      <a:endParaRPr lang="en-IN" sz="12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600"/>
                        </a:spcAft>
                        <a:buNone/>
                      </a:pPr>
                      <a:r>
                        <a:rPr lang="en-IN" sz="1200">
                          <a:effectLst/>
                        </a:rPr>
                        <a:t>0.03859</a:t>
                      </a:r>
                      <a:endParaRPr lang="en-IN" sz="12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831662300"/>
                  </a:ext>
                </a:extLst>
              </a:tr>
              <a:tr h="342490">
                <a:tc>
                  <a:txBody>
                    <a:bodyPr/>
                    <a:lstStyle/>
                    <a:p>
                      <a:pPr algn="just">
                        <a:lnSpc>
                          <a:spcPct val="150000"/>
                        </a:lnSpc>
                        <a:spcAft>
                          <a:spcPts val="600"/>
                        </a:spcAft>
                        <a:buNone/>
                      </a:pPr>
                      <a:r>
                        <a:rPr lang="en-IN" sz="1200">
                          <a:effectLst/>
                        </a:rPr>
                        <a:t>loss_sad</a:t>
                      </a:r>
                      <a:endParaRPr lang="en-IN" sz="12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600"/>
                        </a:spcAft>
                        <a:buNone/>
                      </a:pPr>
                      <a:r>
                        <a:rPr lang="en-IN" sz="1200">
                          <a:effectLst/>
                        </a:rPr>
                        <a:t>0.01265</a:t>
                      </a:r>
                      <a:endParaRPr lang="en-IN" sz="12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577940969"/>
                  </a:ext>
                </a:extLst>
              </a:tr>
              <a:tr h="342490">
                <a:tc>
                  <a:txBody>
                    <a:bodyPr/>
                    <a:lstStyle/>
                    <a:p>
                      <a:pPr algn="just">
                        <a:lnSpc>
                          <a:spcPct val="150000"/>
                        </a:lnSpc>
                        <a:spcAft>
                          <a:spcPts val="600"/>
                        </a:spcAft>
                        <a:buNone/>
                      </a:pPr>
                      <a:r>
                        <a:rPr lang="en-IN" sz="1200">
                          <a:effectLst/>
                        </a:rPr>
                        <a:t>loss_vca</a:t>
                      </a:r>
                      <a:endParaRPr lang="en-IN" sz="12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600"/>
                        </a:spcAft>
                        <a:buNone/>
                      </a:pPr>
                      <a:r>
                        <a:rPr lang="en-IN" sz="1200" dirty="0">
                          <a:effectLst/>
                        </a:rPr>
                        <a:t>2.00633</a:t>
                      </a:r>
                      <a:endParaRPr lang="en-IN" sz="12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4104416246"/>
                  </a:ext>
                </a:extLst>
              </a:tr>
              <a:tr h="342490">
                <a:tc>
                  <a:txBody>
                    <a:bodyPr/>
                    <a:lstStyle/>
                    <a:p>
                      <a:pPr algn="just">
                        <a:lnSpc>
                          <a:spcPct val="150000"/>
                        </a:lnSpc>
                        <a:spcAft>
                          <a:spcPts val="600"/>
                        </a:spcAft>
                        <a:buNone/>
                      </a:pPr>
                      <a:r>
                        <a:rPr lang="en-IN" sz="1200">
                          <a:effectLst/>
                        </a:rPr>
                        <a:t>recon_loss</a:t>
                      </a:r>
                      <a:endParaRPr lang="en-IN" sz="12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600"/>
                        </a:spcAft>
                        <a:buNone/>
                      </a:pPr>
                      <a:r>
                        <a:rPr lang="en-IN" sz="1200" dirty="0">
                          <a:effectLst/>
                        </a:rPr>
                        <a:t>0.0591</a:t>
                      </a:r>
                      <a:endParaRPr lang="en-IN" sz="12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4201033369"/>
                  </a:ext>
                </a:extLst>
              </a:tr>
            </a:tbl>
          </a:graphicData>
        </a:graphic>
      </p:graphicFrame>
      <p:pic>
        <p:nvPicPr>
          <p:cNvPr id="8" name="Picture 7" descr="A graph with a line">
            <a:extLst>
              <a:ext uri="{FF2B5EF4-FFF2-40B4-BE49-F238E27FC236}">
                <a16:creationId xmlns:a16="http://schemas.microsoft.com/office/drawing/2014/main" id="{FEA3C7FA-33B2-84CA-A219-393820AAE8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4051" y="976741"/>
            <a:ext cx="5908001" cy="4431001"/>
          </a:xfrm>
          <a:prstGeom prst="rect">
            <a:avLst/>
          </a:prstGeom>
        </p:spPr>
      </p:pic>
    </p:spTree>
    <p:extLst>
      <p:ext uri="{BB962C8B-B14F-4D97-AF65-F5344CB8AC3E}">
        <p14:creationId xmlns:p14="http://schemas.microsoft.com/office/powerpoint/2010/main" val="3495358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D90F9-918C-FD29-3166-74F874AE17C1}"/>
              </a:ext>
            </a:extLst>
          </p:cNvPr>
          <p:cNvSpPr>
            <a:spLocks noGrp="1"/>
          </p:cNvSpPr>
          <p:nvPr>
            <p:ph type="ctrTitle"/>
          </p:nvPr>
        </p:nvSpPr>
        <p:spPr>
          <a:xfrm>
            <a:off x="477981" y="1122363"/>
            <a:ext cx="4023360" cy="3204134"/>
          </a:xfrm>
        </p:spPr>
        <p:txBody>
          <a:bodyPr anchor="b">
            <a:normAutofit/>
          </a:bodyPr>
          <a:lstStyle/>
          <a:p>
            <a:r>
              <a:rPr lang="en-IN" sz="4800" dirty="0"/>
              <a:t>GT Vs Model</a:t>
            </a:r>
          </a:p>
        </p:txBody>
      </p:sp>
      <p:sp>
        <p:nvSpPr>
          <p:cNvPr id="3" name="Subtitle 2">
            <a:extLst>
              <a:ext uri="{FF2B5EF4-FFF2-40B4-BE49-F238E27FC236}">
                <a16:creationId xmlns:a16="http://schemas.microsoft.com/office/drawing/2014/main" id="{25367300-1996-3855-E339-353927BAAE4A}"/>
              </a:ext>
            </a:extLst>
          </p:cNvPr>
          <p:cNvSpPr>
            <a:spLocks noGrp="1"/>
          </p:cNvSpPr>
          <p:nvPr>
            <p:ph type="subTitle" idx="1"/>
          </p:nvPr>
        </p:nvSpPr>
        <p:spPr>
          <a:xfrm>
            <a:off x="5250426" y="486364"/>
            <a:ext cx="6941574" cy="855983"/>
          </a:xfrm>
        </p:spPr>
        <p:txBody>
          <a:bodyPr>
            <a:normAutofit/>
          </a:bodyPr>
          <a:lstStyle/>
          <a:p>
            <a:r>
              <a:rPr lang="en-IN" sz="2000" dirty="0"/>
              <a:t>Tree              Water                   Dirt                Road</a:t>
            </a:r>
          </a:p>
        </p:txBody>
      </p:sp>
      <p:pic>
        <p:nvPicPr>
          <p:cNvPr id="5" name="Picture 4">
            <a:extLst>
              <a:ext uri="{FF2B5EF4-FFF2-40B4-BE49-F238E27FC236}">
                <a16:creationId xmlns:a16="http://schemas.microsoft.com/office/drawing/2014/main" id="{AA645292-C55E-9519-E951-CCB3EA27F075}"/>
              </a:ext>
            </a:extLst>
          </p:cNvPr>
          <p:cNvPicPr>
            <a:picLocks noChangeAspect="1"/>
          </p:cNvPicPr>
          <p:nvPr/>
        </p:nvPicPr>
        <p:blipFill>
          <a:blip r:embed="rId2"/>
          <a:stretch>
            <a:fillRect/>
          </a:stretch>
        </p:blipFill>
        <p:spPr>
          <a:xfrm>
            <a:off x="4864608" y="914356"/>
            <a:ext cx="6846363" cy="4878033"/>
          </a:xfrm>
          <a:prstGeom prst="rect">
            <a:avLst/>
          </a:prstGeom>
        </p:spPr>
      </p:pic>
    </p:spTree>
    <p:extLst>
      <p:ext uri="{BB962C8B-B14F-4D97-AF65-F5344CB8AC3E}">
        <p14:creationId xmlns:p14="http://schemas.microsoft.com/office/powerpoint/2010/main" val="4000622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033B2-537E-548C-8FD8-28471A855CFF}"/>
              </a:ext>
            </a:extLst>
          </p:cNvPr>
          <p:cNvSpPr>
            <a:spLocks noGrp="1"/>
          </p:cNvSpPr>
          <p:nvPr>
            <p:ph type="ctrTitle"/>
          </p:nvPr>
        </p:nvSpPr>
        <p:spPr>
          <a:xfrm>
            <a:off x="477981" y="1122363"/>
            <a:ext cx="4023360" cy="3204134"/>
          </a:xfrm>
        </p:spPr>
        <p:txBody>
          <a:bodyPr anchor="b">
            <a:normAutofit/>
          </a:bodyPr>
          <a:lstStyle/>
          <a:p>
            <a:r>
              <a:rPr lang="en-IN" sz="4800"/>
              <a:t>PCA</a:t>
            </a:r>
          </a:p>
        </p:txBody>
      </p:sp>
      <p:sp>
        <p:nvSpPr>
          <p:cNvPr id="3" name="Subtitle 2">
            <a:extLst>
              <a:ext uri="{FF2B5EF4-FFF2-40B4-BE49-F238E27FC236}">
                <a16:creationId xmlns:a16="http://schemas.microsoft.com/office/drawing/2014/main" id="{39A9D5B7-BED1-9D5B-373D-2492D29B7E74}"/>
              </a:ext>
            </a:extLst>
          </p:cNvPr>
          <p:cNvSpPr>
            <a:spLocks noGrp="1"/>
          </p:cNvSpPr>
          <p:nvPr>
            <p:ph type="subTitle" idx="1"/>
          </p:nvPr>
        </p:nvSpPr>
        <p:spPr>
          <a:xfrm>
            <a:off x="477981" y="4872922"/>
            <a:ext cx="3933306" cy="1208141"/>
          </a:xfrm>
        </p:spPr>
        <p:txBody>
          <a:bodyPr>
            <a:noAutofit/>
          </a:bodyPr>
          <a:lstStyle/>
          <a:p>
            <a:r>
              <a:rPr lang="en-US" sz="2000" b="1" dirty="0"/>
              <a:t>PCA Scatter Plot</a:t>
            </a:r>
            <a:r>
              <a:rPr lang="en-US" sz="2000" dirty="0"/>
              <a:t>: Visualizes the relationship between mixed pixels and endmembers in reduced 2D space</a:t>
            </a:r>
            <a:endParaRPr lang="en-IN" sz="2000" dirty="0"/>
          </a:p>
        </p:txBody>
      </p:sp>
      <p:pic>
        <p:nvPicPr>
          <p:cNvPr id="5" name="Picture 4">
            <a:extLst>
              <a:ext uri="{FF2B5EF4-FFF2-40B4-BE49-F238E27FC236}">
                <a16:creationId xmlns:a16="http://schemas.microsoft.com/office/drawing/2014/main" id="{BD81DFAA-6C1A-A165-E16E-93736E713D1F}"/>
              </a:ext>
            </a:extLst>
          </p:cNvPr>
          <p:cNvPicPr>
            <a:picLocks noChangeAspect="1"/>
          </p:cNvPicPr>
          <p:nvPr/>
        </p:nvPicPr>
        <p:blipFill>
          <a:blip r:embed="rId2"/>
          <a:stretch>
            <a:fillRect/>
          </a:stretch>
        </p:blipFill>
        <p:spPr>
          <a:xfrm>
            <a:off x="4971448" y="625683"/>
            <a:ext cx="6632682" cy="5455380"/>
          </a:xfrm>
          <a:prstGeom prst="rect">
            <a:avLst/>
          </a:prstGeom>
        </p:spPr>
      </p:pic>
    </p:spTree>
    <p:extLst>
      <p:ext uri="{BB962C8B-B14F-4D97-AF65-F5344CB8AC3E}">
        <p14:creationId xmlns:p14="http://schemas.microsoft.com/office/powerpoint/2010/main" val="963737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C9F46-6247-5746-9B3D-4BBC8C1FA7E7}"/>
              </a:ext>
            </a:extLst>
          </p:cNvPr>
          <p:cNvSpPr>
            <a:spLocks noGrp="1"/>
          </p:cNvSpPr>
          <p:nvPr>
            <p:ph type="ctrTitle"/>
          </p:nvPr>
        </p:nvSpPr>
        <p:spPr>
          <a:xfrm>
            <a:off x="477981" y="1122363"/>
            <a:ext cx="4023360" cy="3204134"/>
          </a:xfrm>
        </p:spPr>
        <p:txBody>
          <a:bodyPr anchor="b">
            <a:normAutofit/>
          </a:bodyPr>
          <a:lstStyle/>
          <a:p>
            <a:r>
              <a:rPr lang="en-IN" sz="4800" dirty="0"/>
              <a:t>Proposed Model PCA for latent Dimensions</a:t>
            </a:r>
          </a:p>
        </p:txBody>
      </p:sp>
      <p:sp>
        <p:nvSpPr>
          <p:cNvPr id="3" name="Subtitle 2">
            <a:extLst>
              <a:ext uri="{FF2B5EF4-FFF2-40B4-BE49-F238E27FC236}">
                <a16:creationId xmlns:a16="http://schemas.microsoft.com/office/drawing/2014/main" id="{A7CDE53C-406C-E257-47E0-6F434F19B4B0}"/>
              </a:ext>
            </a:extLst>
          </p:cNvPr>
          <p:cNvSpPr>
            <a:spLocks noGrp="1"/>
          </p:cNvSpPr>
          <p:nvPr>
            <p:ph type="subTitle" idx="1"/>
          </p:nvPr>
        </p:nvSpPr>
        <p:spPr>
          <a:xfrm>
            <a:off x="477981" y="4872922"/>
            <a:ext cx="3933306" cy="1208141"/>
          </a:xfrm>
        </p:spPr>
        <p:txBody>
          <a:bodyPr>
            <a:normAutofit fontScale="92500" lnSpcReduction="10000"/>
          </a:bodyPr>
          <a:lstStyle/>
          <a:p>
            <a:r>
              <a:rPr lang="en-US" sz="1900" b="1" dirty="0"/>
              <a:t>PCA Plot of Latent Variables</a:t>
            </a:r>
            <a:r>
              <a:rPr lang="en-US" sz="1900" dirty="0"/>
              <a:t>: Shows the 2D projection of latent variables learned by the model.</a:t>
            </a:r>
            <a:br>
              <a:rPr lang="en-US" sz="1900" dirty="0"/>
            </a:br>
            <a:r>
              <a:rPr lang="en-US" sz="1900" dirty="0"/>
              <a:t>Better than Base Model</a:t>
            </a:r>
            <a:endParaRPr lang="en-IN" sz="1900" dirty="0"/>
          </a:p>
        </p:txBody>
      </p:sp>
      <p:pic>
        <p:nvPicPr>
          <p:cNvPr id="5" name="Picture 4">
            <a:extLst>
              <a:ext uri="{FF2B5EF4-FFF2-40B4-BE49-F238E27FC236}">
                <a16:creationId xmlns:a16="http://schemas.microsoft.com/office/drawing/2014/main" id="{19A11CD6-B5EE-2A3D-F94D-248F36F73C54}"/>
              </a:ext>
            </a:extLst>
          </p:cNvPr>
          <p:cNvPicPr>
            <a:picLocks noChangeAspect="1"/>
          </p:cNvPicPr>
          <p:nvPr/>
        </p:nvPicPr>
        <p:blipFill>
          <a:blip r:embed="rId2"/>
          <a:stretch>
            <a:fillRect/>
          </a:stretch>
        </p:blipFill>
        <p:spPr>
          <a:xfrm>
            <a:off x="4864608" y="726081"/>
            <a:ext cx="6846363" cy="5254583"/>
          </a:xfrm>
          <a:prstGeom prst="rect">
            <a:avLst/>
          </a:prstGeom>
        </p:spPr>
      </p:pic>
    </p:spTree>
    <p:extLst>
      <p:ext uri="{BB962C8B-B14F-4D97-AF65-F5344CB8AC3E}">
        <p14:creationId xmlns:p14="http://schemas.microsoft.com/office/powerpoint/2010/main" val="4248177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BE2A7-F0C4-D7CD-A68B-12880146BD79}"/>
              </a:ext>
            </a:extLst>
          </p:cNvPr>
          <p:cNvSpPr>
            <a:spLocks noGrp="1"/>
          </p:cNvSpPr>
          <p:nvPr>
            <p:ph type="ctrTitle"/>
          </p:nvPr>
        </p:nvSpPr>
        <p:spPr>
          <a:xfrm>
            <a:off x="477981" y="1122363"/>
            <a:ext cx="4023360" cy="3204134"/>
          </a:xfrm>
        </p:spPr>
        <p:txBody>
          <a:bodyPr anchor="b">
            <a:normAutofit/>
          </a:bodyPr>
          <a:lstStyle/>
          <a:p>
            <a:r>
              <a:rPr lang="en-IN" sz="4800" dirty="0"/>
              <a:t>Base Model PCA for Latent Dimensions</a:t>
            </a:r>
          </a:p>
        </p:txBody>
      </p:sp>
      <p:sp>
        <p:nvSpPr>
          <p:cNvPr id="3" name="Subtitle 2">
            <a:extLst>
              <a:ext uri="{FF2B5EF4-FFF2-40B4-BE49-F238E27FC236}">
                <a16:creationId xmlns:a16="http://schemas.microsoft.com/office/drawing/2014/main" id="{45405177-C155-CAC6-594D-74B9602D5A82}"/>
              </a:ext>
            </a:extLst>
          </p:cNvPr>
          <p:cNvSpPr>
            <a:spLocks noGrp="1"/>
          </p:cNvSpPr>
          <p:nvPr>
            <p:ph type="subTitle" idx="1"/>
          </p:nvPr>
        </p:nvSpPr>
        <p:spPr>
          <a:xfrm>
            <a:off x="315936" y="4791899"/>
            <a:ext cx="3933306" cy="1208141"/>
          </a:xfrm>
        </p:spPr>
        <p:txBody>
          <a:bodyPr>
            <a:normAutofit fontScale="92500" lnSpcReduction="20000"/>
          </a:bodyPr>
          <a:lstStyle/>
          <a:p>
            <a:r>
              <a:rPr lang="en-IN" sz="2000" dirty="0"/>
              <a:t>Our model performed better here than base model as our model clearly distinguished end members</a:t>
            </a:r>
          </a:p>
        </p:txBody>
      </p:sp>
      <p:pic>
        <p:nvPicPr>
          <p:cNvPr id="5" name="Picture 4">
            <a:extLst>
              <a:ext uri="{FF2B5EF4-FFF2-40B4-BE49-F238E27FC236}">
                <a16:creationId xmlns:a16="http://schemas.microsoft.com/office/drawing/2014/main" id="{11DC1770-A84E-8F76-EA84-8778568F75D7}"/>
              </a:ext>
            </a:extLst>
          </p:cNvPr>
          <p:cNvPicPr>
            <a:picLocks noChangeAspect="1"/>
          </p:cNvPicPr>
          <p:nvPr/>
        </p:nvPicPr>
        <p:blipFill>
          <a:blip r:embed="rId2"/>
          <a:stretch>
            <a:fillRect/>
          </a:stretch>
        </p:blipFill>
        <p:spPr>
          <a:xfrm>
            <a:off x="5214336" y="625683"/>
            <a:ext cx="6146907" cy="5455380"/>
          </a:xfrm>
          <a:prstGeom prst="rect">
            <a:avLst/>
          </a:prstGeom>
        </p:spPr>
      </p:pic>
    </p:spTree>
    <p:extLst>
      <p:ext uri="{BB962C8B-B14F-4D97-AF65-F5344CB8AC3E}">
        <p14:creationId xmlns:p14="http://schemas.microsoft.com/office/powerpoint/2010/main" val="1523689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BC345-C1A9-C178-45DD-2863957EFC60}"/>
              </a:ext>
            </a:extLst>
          </p:cNvPr>
          <p:cNvSpPr>
            <a:spLocks noGrp="1"/>
          </p:cNvSpPr>
          <p:nvPr>
            <p:ph type="title"/>
          </p:nvPr>
        </p:nvSpPr>
        <p:spPr>
          <a:xfrm>
            <a:off x="458694" y="365761"/>
            <a:ext cx="10895106" cy="607634"/>
          </a:xfrm>
        </p:spPr>
        <p:txBody>
          <a:bodyPr>
            <a:normAutofit fontScale="90000"/>
          </a:bodyPr>
          <a:lstStyle/>
          <a:p>
            <a:r>
              <a:rPr lang="en-US"/>
              <a:t>Analysis</a:t>
            </a:r>
            <a:endParaRPr lang="en-IN" dirty="0"/>
          </a:p>
        </p:txBody>
      </p:sp>
      <p:sp>
        <p:nvSpPr>
          <p:cNvPr id="4" name="Rectangle 1">
            <a:extLst>
              <a:ext uri="{FF2B5EF4-FFF2-40B4-BE49-F238E27FC236}">
                <a16:creationId xmlns:a16="http://schemas.microsoft.com/office/drawing/2014/main" id="{DD09B770-163B-03AD-0E27-4E78794F5504}"/>
              </a:ext>
            </a:extLst>
          </p:cNvPr>
          <p:cNvSpPr>
            <a:spLocks noGrp="1" noChangeArrowheads="1"/>
          </p:cNvSpPr>
          <p:nvPr>
            <p:ph idx="1"/>
          </p:nvPr>
        </p:nvSpPr>
        <p:spPr bwMode="auto">
          <a:xfrm>
            <a:off x="1129518" y="1470277"/>
            <a:ext cx="10560911" cy="5009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Achieved state-of-the-art accuracy in hyperspectral unmixing tasks.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Clear spectral separation observed via PCA latent space visualization.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Achieved low </a:t>
            </a:r>
            <a:r>
              <a:rPr kumimoji="0" lang="en-US" altLang="en-US" sz="2400" b="0" i="0" u="none" strike="noStrike" cap="none" normalizeH="0" baseline="0" dirty="0" err="1">
                <a:ln>
                  <a:noFill/>
                </a:ln>
                <a:solidFill>
                  <a:schemeClr val="tx1"/>
                </a:solidFill>
                <a:effectLst/>
                <a:latin typeface="Arial" panose="020B0604020202020204" pitchFamily="34" charset="0"/>
              </a:rPr>
              <a:t>aRMSE</a:t>
            </a:r>
            <a:r>
              <a:rPr kumimoji="0" lang="en-US" altLang="en-US" sz="2400" b="0" i="0" u="none" strike="noStrike" cap="none" normalizeH="0" baseline="0" dirty="0">
                <a:ln>
                  <a:noFill/>
                </a:ln>
                <a:solidFill>
                  <a:schemeClr val="tx1"/>
                </a:solidFill>
                <a:effectLst/>
                <a:latin typeface="Arial" panose="020B0604020202020204" pitchFamily="34" charset="0"/>
              </a:rPr>
              <a:t> of 0.06394 in abundance estimation.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Maintained spectral coherence with SAD of 0.01265.</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Reconstruction loss remained low at 0.0591.</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Balanced KL divergence (0.20504) ensured stable latent structure.</a:t>
            </a:r>
          </a:p>
          <a:p>
            <a:pPr marL="0" marR="0" lvl="0" indent="0" algn="just" defTabSz="914400" rtl="0" eaLnBrk="0" fontAlgn="base" latinLnBrk="0" hangingPunct="0">
              <a:lnSpc>
                <a:spcPct val="150000"/>
              </a:lnSpc>
              <a:spcBef>
                <a:spcPct val="0"/>
              </a:spcBef>
              <a:spcAft>
                <a:spcPct val="0"/>
              </a:spcAft>
              <a:buClrTx/>
              <a:buSzTx/>
              <a:buFontTx/>
              <a:buChar char="•"/>
              <a:tabLst/>
            </a:pPr>
            <a:r>
              <a:rPr lang="en-US" sz="2400" dirty="0"/>
              <a:t>Effectively handles mixed pixels and spectrally similar materials.</a:t>
            </a:r>
          </a:p>
          <a:p>
            <a:pPr marL="0" marR="0" lvl="0" indent="0" algn="just" defTabSz="914400" rtl="0" eaLnBrk="0" fontAlgn="base" latinLnBrk="0" hangingPunct="0">
              <a:lnSpc>
                <a:spcPct val="150000"/>
              </a:lnSpc>
              <a:spcBef>
                <a:spcPct val="0"/>
              </a:spcBef>
              <a:spcAft>
                <a:spcPct val="0"/>
              </a:spcAft>
              <a:buClrTx/>
              <a:buSzTx/>
              <a:buFontTx/>
              <a:buChar char="•"/>
              <a:tabLst/>
            </a:pPr>
            <a:r>
              <a:rPr lang="en-IN" sz="2400" dirty="0"/>
              <a:t>Self-adaptive SBX tuning enhanced model generalization.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7161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E7E32-B811-69AC-894D-3C2B123C5F25}"/>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9D08453E-705F-554C-B123-6A09A6F948C6}"/>
              </a:ext>
            </a:extLst>
          </p:cNvPr>
          <p:cNvSpPr>
            <a:spLocks noGrp="1"/>
          </p:cNvSpPr>
          <p:nvPr>
            <p:ph idx="1"/>
          </p:nvPr>
        </p:nvSpPr>
        <p:spPr/>
        <p:txBody>
          <a:bodyPr/>
          <a:lstStyle/>
          <a:p>
            <a:pPr marL="0" indent="0">
              <a:buNone/>
            </a:pPr>
            <a:r>
              <a:rPr lang="en-IN" sz="2400" dirty="0">
                <a:effectLst/>
                <a:latin typeface="Times New Roman" panose="02020603050405020304" pitchFamily="18" charset="0"/>
                <a:ea typeface="Calibri" panose="020F0502020204030204" pitchFamily="34" charset="0"/>
              </a:rPr>
              <a:t>In conclusion, the proposed self-adaptive evolutionary Variational </a:t>
            </a:r>
            <a:r>
              <a:rPr lang="en-IN" sz="2400" dirty="0" err="1">
                <a:effectLst/>
                <a:latin typeface="Times New Roman" panose="02020603050405020304" pitchFamily="18" charset="0"/>
                <a:ea typeface="Calibri" panose="020F0502020204030204" pitchFamily="34" charset="0"/>
              </a:rPr>
              <a:t>AutoEncoder</a:t>
            </a:r>
            <a:r>
              <a:rPr lang="en-IN" sz="2400" dirty="0">
                <a:effectLst/>
                <a:latin typeface="Times New Roman" panose="02020603050405020304" pitchFamily="18" charset="0"/>
                <a:ea typeface="Calibri" panose="020F0502020204030204" pitchFamily="34" charset="0"/>
              </a:rPr>
              <a:t> (VAE) framework demonstrates significant advancements in hyperspectral unmixing by effectively capturing endmember variability and ensuring robust spectral reconstruction. By leveraging a self-adaptive SBX mechanism, the model dynamically optimizes key loss weights to achieve a balanced and precise unmixing process. The integration of KL divergence, SAD, and minimum volume constraints enhances its capability to handle complex spectral data with high accuracy. The framework's scalability and adaptability make it a promising solution for real-world hyperspectral analysis, outperforming traditional models in both accuracy and generalization.</a:t>
            </a:r>
          </a:p>
          <a:p>
            <a:endParaRPr lang="en-IN" dirty="0"/>
          </a:p>
        </p:txBody>
      </p:sp>
    </p:spTree>
    <p:extLst>
      <p:ext uri="{BB962C8B-B14F-4D97-AF65-F5344CB8AC3E}">
        <p14:creationId xmlns:p14="http://schemas.microsoft.com/office/powerpoint/2010/main" val="461260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93F5B-126C-B427-94F5-836FDA8C3D3B}"/>
              </a:ext>
            </a:extLst>
          </p:cNvPr>
          <p:cNvSpPr>
            <a:spLocks noGrp="1"/>
          </p:cNvSpPr>
          <p:nvPr>
            <p:ph type="title"/>
          </p:nvPr>
        </p:nvSpPr>
        <p:spPr/>
        <p:txBody>
          <a:bodyPr/>
          <a:lstStyle/>
          <a:p>
            <a:r>
              <a:rPr lang="en-US" dirty="0"/>
              <a:t>Future Scope</a:t>
            </a:r>
            <a:endParaRPr lang="en-IN" dirty="0"/>
          </a:p>
        </p:txBody>
      </p:sp>
      <p:sp>
        <p:nvSpPr>
          <p:cNvPr id="3" name="Content Placeholder 2">
            <a:extLst>
              <a:ext uri="{FF2B5EF4-FFF2-40B4-BE49-F238E27FC236}">
                <a16:creationId xmlns:a16="http://schemas.microsoft.com/office/drawing/2014/main" id="{71B99123-A36E-575F-3D67-B9CDAE0AE386}"/>
              </a:ext>
            </a:extLst>
          </p:cNvPr>
          <p:cNvSpPr>
            <a:spLocks noGrp="1"/>
          </p:cNvSpPr>
          <p:nvPr>
            <p:ph idx="1"/>
          </p:nvPr>
        </p:nvSpPr>
        <p:spPr>
          <a:xfrm>
            <a:off x="358815" y="1388962"/>
            <a:ext cx="11374491" cy="5266481"/>
          </a:xfrm>
        </p:spPr>
        <p:txBody>
          <a:bodyPr>
            <a:normAutofit fontScale="92500"/>
          </a:bodyPr>
          <a:lstStyle/>
          <a:p>
            <a:pPr marL="0" indent="0">
              <a:buNone/>
            </a:pPr>
            <a:r>
              <a:rPr lang="en-IN" sz="2400" dirty="0">
                <a:effectLst/>
                <a:latin typeface="Times New Roman" panose="02020603050405020304" pitchFamily="18" charset="0"/>
                <a:ea typeface="Calibri" panose="020F0502020204030204" pitchFamily="34" charset="0"/>
              </a:rPr>
              <a:t>The future scope of the Self-Adaptive Evolutionary Info Variational Autoencoder (SA-eInfoVAE) lies in enhancing its applicability and performance across a broader range of hyperspectral unmixing challenges. Integrating spatial dependencies through Convolutional Neural Networks (CNNs) or Graph Neural Networks (GNNs) could improve the model's ability to preserve spatial coherence in high-resolution images. Additionally, extending the model to handle temporal variations would allow for dynamic monitoring applications, such as change detection and environmental monitoring. The incorporation of hybrid models, combining SA-eInfoVAE with GANs, could improve the generation of realistic endmembers and abundance maps, addressing challenges in spectral data generation. The model can also be expanded to multi-sensor fusion, making it more robust to variations in sensor characteristics, thereby increasing its versatility for real-world applications. Further optimization for real-time processing would enhance its practical use in operational systems like satellite or drone-based remote sensing. Finally, extensive benchmarking on diverse datasets will help assess the generalizability of the model, ensuring its robustness across different environments and spectral conditions.</a:t>
            </a:r>
          </a:p>
          <a:p>
            <a:endParaRPr lang="en-IN" dirty="0"/>
          </a:p>
        </p:txBody>
      </p:sp>
    </p:spTree>
    <p:extLst>
      <p:ext uri="{BB962C8B-B14F-4D97-AF65-F5344CB8AC3E}">
        <p14:creationId xmlns:p14="http://schemas.microsoft.com/office/powerpoint/2010/main" val="937017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3E31C34-9DE7-46C6-A20C-2122BE91CF31}"/>
              </a:ext>
            </a:extLst>
          </p:cNvPr>
          <p:cNvSpPr>
            <a:spLocks noGrp="1"/>
          </p:cNvSpPr>
          <p:nvPr>
            <p:ph type="subTitle" idx="1"/>
          </p:nvPr>
        </p:nvSpPr>
        <p:spPr>
          <a:xfrm>
            <a:off x="173621" y="590312"/>
            <a:ext cx="11910350" cy="6018830"/>
          </a:xfrm>
        </p:spPr>
        <p:txBody>
          <a:bodyPr>
            <a:noAutofit/>
          </a:bodyPr>
          <a:lstStyle/>
          <a:p>
            <a:pPr algn="l"/>
            <a:endParaRPr lang="en-IN" sz="1100" b="1" dirty="0">
              <a:latin typeface="Times New Roman" panose="02020603050405020304" pitchFamily="18" charset="0"/>
              <a:cs typeface="Times New Roman" panose="02020603050405020304" pitchFamily="18" charset="0"/>
            </a:endParaRP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[1] M. A. Moharram and D. M. Sundaram, “Land use and land cover classification with hyperspectral data: A comprehensive review of methods, challenges and future directions,” Neurocomputing, vol. 536, pp. 90–113,2023.</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[2] E. Bedini, “The use of hyperspectral remote sensing for mineral exploration: A review,” Journal of Hyperspectral Remote Sensing, vol. 7,no. 4, pp. 189–211, 2017.</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[3] B. Zhang, D. Wu, L. Zhang, Q. Jiao, and Q. Li, “Application of hyperspectral remote sensing for environment monitoring in mining areas,” Environmental Earth Sciences, vol. 65, pp. 649–658, 2012.</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[4] G. Lu and B. Fei, “Medical hyperspectral imaging: a review,” Journal of biomedical optics, vol. 19, no. 1, pp. 010 901–010 901, 2014.</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[5] P. W. Yuen and M. Richardson, “An introduction to hyperspectral imaging and its application for security, surveillance and target acquisition, “The Imaging Science Journal, vol. 58, no. 5, pp. 241–253, 2010.</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[6] N. Keshava and J. F. Mustard, “Spectral unmixing,” IEEE signal processing magazine, vol. 19, no. 1, pp. 44–57, 2002.</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[7] J. M. Nascimento and J. M. Dias, “Vertex component analysis: A fast algorithm to unmix hyperspectral data,” IEEE transactions on Geoscience and Remote Sensing, vol. 43, no. 4, pp. 898–910, 2005.</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[8] X. Lu, H. Wu, Y. Yuan, P. Yan, and X. Li, “Manifold regularized sparse </a:t>
            </a:r>
            <a:r>
              <a:rPr lang="en-IN" sz="1100" dirty="0" err="1">
                <a:effectLst/>
                <a:latin typeface="Times New Roman" panose="02020603050405020304" pitchFamily="18" charset="0"/>
                <a:ea typeface="Calibri" panose="020F0502020204030204" pitchFamily="34" charset="0"/>
              </a:rPr>
              <a:t>nmf</a:t>
            </a:r>
            <a:r>
              <a:rPr lang="en-IN" sz="1100" dirty="0">
                <a:effectLst/>
                <a:latin typeface="Times New Roman" panose="02020603050405020304" pitchFamily="18" charset="0"/>
                <a:ea typeface="Calibri" panose="020F0502020204030204" pitchFamily="34" charset="0"/>
              </a:rPr>
              <a:t> for hyperspectral unmixing,” IEEE Transactions on Geoscience and Remote Sensing, vol. 51, no. 5, pp. 2815–2826, 2012.</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[9] D. A. Roberts, M. Gardner, R. Church, S. Ustin, G. Scheer, and R. Green, “Mapping chaparral in the </a:t>
            </a:r>
            <a:r>
              <a:rPr lang="en-IN" sz="1100" dirty="0" err="1">
                <a:effectLst/>
                <a:latin typeface="Times New Roman" panose="02020603050405020304" pitchFamily="18" charset="0"/>
                <a:ea typeface="Calibri" panose="020F0502020204030204" pitchFamily="34" charset="0"/>
              </a:rPr>
              <a:t>santa</a:t>
            </a:r>
            <a:r>
              <a:rPr lang="en-IN" sz="1100" dirty="0">
                <a:effectLst/>
                <a:latin typeface="Times New Roman" panose="02020603050405020304" pitchFamily="18" charset="0"/>
                <a:ea typeface="Calibri" panose="020F0502020204030204" pitchFamily="34" charset="0"/>
              </a:rPr>
              <a:t> </a:t>
            </a:r>
            <a:r>
              <a:rPr lang="en-IN" sz="1100" dirty="0" err="1">
                <a:effectLst/>
                <a:latin typeface="Times New Roman" panose="02020603050405020304" pitchFamily="18" charset="0"/>
                <a:ea typeface="Calibri" panose="020F0502020204030204" pitchFamily="34" charset="0"/>
              </a:rPr>
              <a:t>monica</a:t>
            </a:r>
            <a:r>
              <a:rPr lang="en-IN" sz="1100" dirty="0">
                <a:effectLst/>
                <a:latin typeface="Times New Roman" panose="02020603050405020304" pitchFamily="18" charset="0"/>
                <a:ea typeface="Calibri" panose="020F0502020204030204" pitchFamily="34" charset="0"/>
              </a:rPr>
              <a:t> mountains using multiple endmember spectral mixture models,” Remote sensing of environment, vol. 65, no. 3, pp. 267 279, 1998.</a:t>
            </a:r>
          </a:p>
          <a:p>
            <a:pPr algn="just">
              <a:lnSpc>
                <a:spcPct val="150000"/>
              </a:lnSpc>
              <a:spcAft>
                <a:spcPts val="600"/>
              </a:spcAft>
            </a:pPr>
            <a:r>
              <a:rPr lang="en-IN" sz="1100" dirty="0">
                <a:effectLst/>
                <a:latin typeface="Times New Roman" panose="02020603050405020304" pitchFamily="18" charset="0"/>
                <a:ea typeface="Calibri" panose="020F0502020204030204" pitchFamily="34" charset="0"/>
              </a:rPr>
              <a:t>[10] N. </a:t>
            </a:r>
            <a:r>
              <a:rPr lang="en-IN" sz="1100" dirty="0" err="1">
                <a:effectLst/>
                <a:latin typeface="Times New Roman" panose="02020603050405020304" pitchFamily="18" charset="0"/>
                <a:ea typeface="Calibri" panose="020F0502020204030204" pitchFamily="34" charset="0"/>
              </a:rPr>
              <a:t>Dobigeon</a:t>
            </a:r>
            <a:r>
              <a:rPr lang="en-IN" sz="1100" dirty="0">
                <a:effectLst/>
                <a:latin typeface="Times New Roman" panose="02020603050405020304" pitchFamily="18" charset="0"/>
                <a:ea typeface="Calibri" panose="020F0502020204030204" pitchFamily="34" charset="0"/>
              </a:rPr>
              <a:t>, J.-Y. </a:t>
            </a:r>
            <a:r>
              <a:rPr lang="en-IN" sz="1100" dirty="0" err="1">
                <a:effectLst/>
                <a:latin typeface="Times New Roman" panose="02020603050405020304" pitchFamily="18" charset="0"/>
                <a:ea typeface="Calibri" panose="020F0502020204030204" pitchFamily="34" charset="0"/>
              </a:rPr>
              <a:t>Tourneret</a:t>
            </a:r>
            <a:r>
              <a:rPr lang="en-IN" sz="1100" dirty="0">
                <a:effectLst/>
                <a:latin typeface="Times New Roman" panose="02020603050405020304" pitchFamily="18" charset="0"/>
                <a:ea typeface="Calibri" panose="020F0502020204030204" pitchFamily="34" charset="0"/>
              </a:rPr>
              <a:t>, C. Richard, J. C. M. Bermudez, S. McLaughlin, and A. O. Hero, “Nonlinear unmixing of hyperspectral images: Models and algorithms,” IEEE Signal processing </a:t>
            </a:r>
            <a:r>
              <a:rPr lang="en-IN" sz="1100" dirty="0" err="1">
                <a:effectLst/>
                <a:latin typeface="Times New Roman" panose="02020603050405020304" pitchFamily="18" charset="0"/>
                <a:ea typeface="Calibri" panose="020F0502020204030204" pitchFamily="34" charset="0"/>
              </a:rPr>
              <a:t>magazine,vol</a:t>
            </a:r>
            <a:r>
              <a:rPr lang="en-IN" sz="1100" dirty="0">
                <a:effectLst/>
                <a:latin typeface="Times New Roman" panose="02020603050405020304" pitchFamily="18" charset="0"/>
                <a:ea typeface="Calibri" panose="020F0502020204030204" pitchFamily="34" charset="0"/>
              </a:rPr>
              <a:t>. 31, no. 1, pp. 82–94, 2013.</a:t>
            </a:r>
          </a:p>
          <a:p>
            <a:pPr algn="l"/>
            <a:endParaRPr lang="en-IN" sz="1100" b="1" dirty="0">
              <a:latin typeface="Times New Roman" panose="02020603050405020304" pitchFamily="18" charset="0"/>
              <a:cs typeface="Times New Roman" panose="02020603050405020304" pitchFamily="18" charset="0"/>
            </a:endParaRPr>
          </a:p>
          <a:p>
            <a:pPr algn="l"/>
            <a:endParaRPr lang="en-IN" sz="1100" b="1"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3EF10696-EFDF-0483-DEB8-985C135EFF13}"/>
              </a:ext>
            </a:extLst>
          </p:cNvPr>
          <p:cNvSpPr>
            <a:spLocks noGrp="1"/>
          </p:cNvSpPr>
          <p:nvPr>
            <p:ph type="ctrTitle"/>
          </p:nvPr>
        </p:nvSpPr>
        <p:spPr>
          <a:xfrm>
            <a:off x="1524000" y="208157"/>
            <a:ext cx="9144000" cy="764310"/>
          </a:xfrm>
        </p:spPr>
        <p:txBody>
          <a:bodyPr/>
          <a:lstStyle/>
          <a:p>
            <a:r>
              <a:rPr lang="en-US" dirty="0"/>
              <a:t>References</a:t>
            </a:r>
            <a:endParaRPr lang="en-IN" dirty="0"/>
          </a:p>
        </p:txBody>
      </p:sp>
    </p:spTree>
    <p:extLst>
      <p:ext uri="{BB962C8B-B14F-4D97-AF65-F5344CB8AC3E}">
        <p14:creationId xmlns:p14="http://schemas.microsoft.com/office/powerpoint/2010/main" val="3395399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59B16-55A4-E773-91E0-5B39CCA35C2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1744DFE-2C6E-883D-DE34-F4A3EAFD8EB2}"/>
              </a:ext>
            </a:extLst>
          </p:cNvPr>
          <p:cNvSpPr>
            <a:spLocks noGrp="1"/>
          </p:cNvSpPr>
          <p:nvPr>
            <p:ph type="subTitle" idx="1"/>
          </p:nvPr>
        </p:nvSpPr>
        <p:spPr>
          <a:xfrm>
            <a:off x="173621" y="590312"/>
            <a:ext cx="11910350" cy="6018830"/>
          </a:xfrm>
        </p:spPr>
        <p:txBody>
          <a:bodyPr>
            <a:noAutofit/>
          </a:bodyPr>
          <a:lstStyle/>
          <a:p>
            <a:pPr algn="l"/>
            <a:endParaRPr lang="en-IN" sz="1100" b="1" dirty="0">
              <a:latin typeface="Times New Roman" panose="02020603050405020304" pitchFamily="18" charset="0"/>
              <a:cs typeface="Times New Roman" panose="02020603050405020304" pitchFamily="18" charset="0"/>
            </a:endParaRP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[11] X. Zhang, Y. Sun, J. Zhang, P. Wu, and L. Jiao, “Hyperspectral unmixing via deep convolutional neural networks,” IEEE Geoscience and Remote Sensing Letters, vol. 15, no. 11, pp. 1755–1759, 2018.</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[12] J. S. Bhatt and M. V. Joshi, “Deep learning in hyperspectral unmixing: A review,” in </a:t>
            </a:r>
            <a:r>
              <a:rPr lang="en-IN" sz="1100" dirty="0" err="1">
                <a:effectLst/>
                <a:latin typeface="Times New Roman" panose="02020603050405020304" pitchFamily="18" charset="0"/>
                <a:ea typeface="Calibri" panose="020F0502020204030204" pitchFamily="34" charset="0"/>
              </a:rPr>
              <a:t>Igarss</a:t>
            </a:r>
            <a:r>
              <a:rPr lang="en-IN" sz="1100" dirty="0">
                <a:effectLst/>
                <a:latin typeface="Times New Roman" panose="02020603050405020304" pitchFamily="18" charset="0"/>
                <a:ea typeface="Calibri" panose="020F0502020204030204" pitchFamily="34" charset="0"/>
              </a:rPr>
              <a:t> 2020-2020 IEEE international geoscience and remote sensing symposium. IEEE, 2020, pp. 2189–2192.</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[13] V. S. Deshpande, J. S. Bhatt et al., “A practical approach for hyperspectral unmixing using deep learning,” IEEE Geoscience and Remote Sensing Letters, vol. 19, pp. 1–5, 2021.</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[14] D. Hong, L. Gao, J. Yao, N. </a:t>
            </a:r>
            <a:r>
              <a:rPr lang="en-IN" sz="1100" dirty="0" err="1">
                <a:effectLst/>
                <a:latin typeface="Times New Roman" panose="02020603050405020304" pitchFamily="18" charset="0"/>
                <a:ea typeface="Calibri" panose="020F0502020204030204" pitchFamily="34" charset="0"/>
              </a:rPr>
              <a:t>Yokoya</a:t>
            </a:r>
            <a:r>
              <a:rPr lang="en-IN" sz="1100" dirty="0">
                <a:effectLst/>
                <a:latin typeface="Times New Roman" panose="02020603050405020304" pitchFamily="18" charset="0"/>
                <a:ea typeface="Calibri" panose="020F0502020204030204" pitchFamily="34" charset="0"/>
              </a:rPr>
              <a:t>, J. </a:t>
            </a:r>
            <a:r>
              <a:rPr lang="en-IN" sz="1100" dirty="0" err="1">
                <a:effectLst/>
                <a:latin typeface="Times New Roman" panose="02020603050405020304" pitchFamily="18" charset="0"/>
                <a:ea typeface="Calibri" panose="020F0502020204030204" pitchFamily="34" charset="0"/>
              </a:rPr>
              <a:t>Chanussot</a:t>
            </a:r>
            <a:r>
              <a:rPr lang="en-IN" sz="1100" dirty="0">
                <a:effectLst/>
                <a:latin typeface="Times New Roman" panose="02020603050405020304" pitchFamily="18" charset="0"/>
                <a:ea typeface="Calibri" panose="020F0502020204030204" pitchFamily="34" charset="0"/>
              </a:rPr>
              <a:t>, U. Heiden, and B. Zhang, “Endmember-guided unmixing network (</a:t>
            </a:r>
            <a:r>
              <a:rPr lang="en-IN" sz="1100" dirty="0" err="1">
                <a:effectLst/>
                <a:latin typeface="Times New Roman" panose="02020603050405020304" pitchFamily="18" charset="0"/>
                <a:ea typeface="Calibri" panose="020F0502020204030204" pitchFamily="34" charset="0"/>
              </a:rPr>
              <a:t>egu</a:t>
            </a:r>
            <a:r>
              <a:rPr lang="en-IN" sz="1100" dirty="0">
                <a:effectLst/>
                <a:latin typeface="Times New Roman" panose="02020603050405020304" pitchFamily="18" charset="0"/>
                <a:ea typeface="Calibri" panose="020F0502020204030204" pitchFamily="34" charset="0"/>
              </a:rPr>
              <a:t>-net): A general deep learning framework for self-supervised hyperspectral unmixing,” IEEE Transactions on Neural Networks and Learning Systems, vol. 33, no. 11, pp. 6518–6531, 2021.</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[15] B. Palsson, J. Sigurdsson, J. R. Sveinsson, and M. O. </a:t>
            </a:r>
            <a:r>
              <a:rPr lang="en-IN" sz="1100" dirty="0" err="1">
                <a:effectLst/>
                <a:latin typeface="Times New Roman" panose="02020603050405020304" pitchFamily="18" charset="0"/>
                <a:ea typeface="Calibri" panose="020F0502020204030204" pitchFamily="34" charset="0"/>
              </a:rPr>
              <a:t>Ulfarsson</a:t>
            </a:r>
            <a:r>
              <a:rPr lang="en-IN" sz="1100" dirty="0">
                <a:effectLst/>
                <a:latin typeface="Times New Roman" panose="02020603050405020304" pitchFamily="18" charset="0"/>
                <a:ea typeface="Calibri" panose="020F0502020204030204" pitchFamily="34" charset="0"/>
              </a:rPr>
              <a:t>, “Hyperspectral unmixing using a neural network autoencoder,” IEEE Access, vol. 6, pp. 25 646–25 656, 2018.</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[16] M. Wang, M. Zhao, J. Chen, and S. </a:t>
            </a:r>
            <a:r>
              <a:rPr lang="en-IN" sz="1100" dirty="0" err="1">
                <a:effectLst/>
                <a:latin typeface="Times New Roman" panose="02020603050405020304" pitchFamily="18" charset="0"/>
                <a:ea typeface="Calibri" panose="020F0502020204030204" pitchFamily="34" charset="0"/>
              </a:rPr>
              <a:t>Rahardja</a:t>
            </a:r>
            <a:r>
              <a:rPr lang="en-IN" sz="1100" dirty="0">
                <a:effectLst/>
                <a:latin typeface="Times New Roman" panose="02020603050405020304" pitchFamily="18" charset="0"/>
                <a:ea typeface="Calibri" panose="020F0502020204030204" pitchFamily="34" charset="0"/>
              </a:rPr>
              <a:t>, “Nonlinear unmixing of hyperspectral data via deep autoencoder networks,” IEEE Geoscience and Remote Sensing Letters, vol. 16, no. 9, pp. 1467–1471, 2019.</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[17] S. Shi, M. Zhao, L. Zhang, and J. Chen, “Variational autoencoders for hyperspectral unmixing with endmember variability,” in ICASSP 2021-2021 IEEE International Conference on Acoustics, Speech and Signal Processing (ICASSP). IEEE, 2021, pp. 1875–1879</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[18] P. Bojanowski, A. </a:t>
            </a:r>
            <a:r>
              <a:rPr lang="en-IN" sz="1100" dirty="0" err="1">
                <a:effectLst/>
                <a:latin typeface="Times New Roman" panose="02020603050405020304" pitchFamily="18" charset="0"/>
                <a:ea typeface="Calibri" panose="020F0502020204030204" pitchFamily="34" charset="0"/>
              </a:rPr>
              <a:t>Joulin</a:t>
            </a:r>
            <a:r>
              <a:rPr lang="en-IN" sz="1100" dirty="0">
                <a:effectLst/>
                <a:latin typeface="Times New Roman" panose="02020603050405020304" pitchFamily="18" charset="0"/>
                <a:ea typeface="Calibri" panose="020F0502020204030204" pitchFamily="34" charset="0"/>
              </a:rPr>
              <a:t>, D. Lopez-Paz, and A. </a:t>
            </a:r>
            <a:r>
              <a:rPr lang="en-IN" sz="1100" dirty="0" err="1">
                <a:effectLst/>
                <a:latin typeface="Times New Roman" panose="02020603050405020304" pitchFamily="18" charset="0"/>
                <a:ea typeface="Calibri" panose="020F0502020204030204" pitchFamily="34" charset="0"/>
              </a:rPr>
              <a:t>Szlam</a:t>
            </a:r>
            <a:r>
              <a:rPr lang="en-IN" sz="1100" dirty="0">
                <a:effectLst/>
                <a:latin typeface="Times New Roman" panose="02020603050405020304" pitchFamily="18" charset="0"/>
                <a:ea typeface="Calibri" panose="020F0502020204030204" pitchFamily="34" charset="0"/>
              </a:rPr>
              <a:t>, “Optimizing the latent space of generative networks,” </a:t>
            </a:r>
            <a:r>
              <a:rPr lang="en-IN" sz="1100" dirty="0" err="1">
                <a:effectLst/>
                <a:latin typeface="Times New Roman" panose="02020603050405020304" pitchFamily="18" charset="0"/>
                <a:ea typeface="Calibri" panose="020F0502020204030204" pitchFamily="34" charset="0"/>
              </a:rPr>
              <a:t>arXiv</a:t>
            </a:r>
            <a:r>
              <a:rPr lang="en-IN" sz="1100" dirty="0">
                <a:effectLst/>
                <a:latin typeface="Times New Roman" panose="02020603050405020304" pitchFamily="18" charset="0"/>
                <a:ea typeface="Calibri" panose="020F0502020204030204" pitchFamily="34" charset="0"/>
              </a:rPr>
              <a:t> preprint arXiv:1707.05776,2017.</a:t>
            </a:r>
          </a:p>
          <a:p>
            <a:pPr algn="just">
              <a:lnSpc>
                <a:spcPct val="150000"/>
              </a:lnSpc>
              <a:spcAft>
                <a:spcPts val="600"/>
              </a:spcAft>
              <a:buNone/>
            </a:pPr>
            <a:r>
              <a:rPr lang="en-IN" sz="1100" dirty="0">
                <a:effectLst/>
                <a:latin typeface="Times New Roman" panose="02020603050405020304" pitchFamily="18" charset="0"/>
                <a:ea typeface="Calibri" panose="020F0502020204030204" pitchFamily="34" charset="0"/>
              </a:rPr>
              <a:t>[19] T. A. Emm and Y. Zhang, “Self-adaptive evolutionary info variational autoencoder,” Computers, vol. 13, no. 8, p. 214, 2024.</a:t>
            </a:r>
          </a:p>
          <a:p>
            <a:pPr algn="just">
              <a:lnSpc>
                <a:spcPct val="150000"/>
              </a:lnSpc>
              <a:spcAft>
                <a:spcPts val="600"/>
              </a:spcAft>
            </a:pPr>
            <a:r>
              <a:rPr lang="en-IN" sz="1100" dirty="0">
                <a:effectLst/>
                <a:latin typeface="Times New Roman" panose="02020603050405020304" pitchFamily="18" charset="0"/>
                <a:ea typeface="Calibri" panose="020F0502020204030204" pitchFamily="34" charset="0"/>
              </a:rPr>
              <a:t>[20] K. Deb, K. Sindhya, and T. Okabe, “Self-adaptive simulated binary crossover for real-parameter optimization,” in Proceedings of the 9</a:t>
            </a:r>
            <a:r>
              <a:rPr lang="en-IN" sz="1100" baseline="30000" dirty="0">
                <a:effectLst/>
                <a:latin typeface="Times New Roman" panose="02020603050405020304" pitchFamily="18" charset="0"/>
                <a:ea typeface="Calibri" panose="020F0502020204030204" pitchFamily="34" charset="0"/>
              </a:rPr>
              <a:t>th</a:t>
            </a:r>
            <a:r>
              <a:rPr lang="en-IN" sz="1100" dirty="0">
                <a:effectLst/>
                <a:latin typeface="Times New Roman" panose="02020603050405020304" pitchFamily="18" charset="0"/>
                <a:ea typeface="Calibri" panose="020F0502020204030204" pitchFamily="34" charset="0"/>
              </a:rPr>
              <a:t> annual conference on genetic and evolutionary computation, 2007, pp. 1187–1194</a:t>
            </a:r>
          </a:p>
          <a:p>
            <a:pPr algn="l"/>
            <a:endParaRPr lang="en-IN" sz="1100" b="1" dirty="0">
              <a:latin typeface="Times New Roman" panose="02020603050405020304" pitchFamily="18" charset="0"/>
              <a:cs typeface="Times New Roman" panose="02020603050405020304" pitchFamily="18" charset="0"/>
            </a:endParaRPr>
          </a:p>
          <a:p>
            <a:pPr algn="l"/>
            <a:endParaRPr lang="en-IN" sz="1100" b="1"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22B9C2F2-1CA0-79D3-6C78-C16221AEBC31}"/>
              </a:ext>
            </a:extLst>
          </p:cNvPr>
          <p:cNvSpPr>
            <a:spLocks noGrp="1"/>
          </p:cNvSpPr>
          <p:nvPr>
            <p:ph type="ctrTitle"/>
          </p:nvPr>
        </p:nvSpPr>
        <p:spPr>
          <a:xfrm>
            <a:off x="1524000" y="208157"/>
            <a:ext cx="9144000" cy="764310"/>
          </a:xfrm>
        </p:spPr>
        <p:txBody>
          <a:bodyPr/>
          <a:lstStyle/>
          <a:p>
            <a:r>
              <a:rPr lang="en-US" dirty="0"/>
              <a:t>References</a:t>
            </a:r>
            <a:endParaRPr lang="en-IN" dirty="0"/>
          </a:p>
        </p:txBody>
      </p:sp>
    </p:spTree>
    <p:extLst>
      <p:ext uri="{BB962C8B-B14F-4D97-AF65-F5344CB8AC3E}">
        <p14:creationId xmlns:p14="http://schemas.microsoft.com/office/powerpoint/2010/main" val="657848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D924463-4DB7-437D-85B1-7EE5042DE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8" name="Rectangle 17">
            <a:extLst>
              <a:ext uri="{FF2B5EF4-FFF2-40B4-BE49-F238E27FC236}">
                <a16:creationId xmlns:a16="http://schemas.microsoft.com/office/drawing/2014/main" id="{C8884498-8C0E-4CE3-A52C-4D46CFCBD2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9" name="Group 18">
            <a:extLst>
              <a:ext uri="{FF2B5EF4-FFF2-40B4-BE49-F238E27FC236}">
                <a16:creationId xmlns:a16="http://schemas.microsoft.com/office/drawing/2014/main" id="{13CD130A-643A-4D11-9D36-1A18E7473D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8194385" y="76200"/>
            <a:ext cx="3997615" cy="6816079"/>
            <a:chOff x="8059620" y="41922"/>
            <a:chExt cx="3997615" cy="6816077"/>
          </a:xfrm>
        </p:grpSpPr>
        <p:pic>
          <p:nvPicPr>
            <p:cNvPr id="13" name="Picture 12">
              <a:extLst>
                <a:ext uri="{FF2B5EF4-FFF2-40B4-BE49-F238E27FC236}">
                  <a16:creationId xmlns:a16="http://schemas.microsoft.com/office/drawing/2014/main" id="{C5B36C10-5167-4E97-BC4C-42E62CBDE85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7000"/>
              <a:extLst>
                <a:ext uri="{28A0092B-C50C-407E-A947-70E740481C1C}">
                  <a14:useLocalDpi xmlns:a14="http://schemas.microsoft.com/office/drawing/2010/main" val="0"/>
                </a:ext>
              </a:extLst>
            </a:blip>
            <a:srcRect l="22818" b="17291"/>
            <a:stretch/>
          </p:blipFill>
          <p:spPr>
            <a:xfrm flipH="1">
              <a:off x="8059620" y="1345934"/>
              <a:ext cx="3997615" cy="5512065"/>
            </a:xfrm>
            <a:prstGeom prst="rect">
              <a:avLst/>
            </a:prstGeom>
          </p:spPr>
        </p:pic>
        <p:pic>
          <p:nvPicPr>
            <p:cNvPr id="14" name="Picture 13">
              <a:extLst>
                <a:ext uri="{FF2B5EF4-FFF2-40B4-BE49-F238E27FC236}">
                  <a16:creationId xmlns:a16="http://schemas.microsoft.com/office/drawing/2014/main" id="{EBDB6D53-B040-4BE2-AAD9-F0BE56F347F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rcRect r="40690"/>
            <a:stretch/>
          </p:blipFill>
          <p:spPr>
            <a:xfrm>
              <a:off x="8915400" y="41922"/>
              <a:ext cx="3141835" cy="6816077"/>
            </a:xfrm>
            <a:prstGeom prst="rect">
              <a:avLst/>
            </a:prstGeom>
          </p:spPr>
        </p:pic>
      </p:grpSp>
      <p:sp>
        <p:nvSpPr>
          <p:cNvPr id="2" name="Title 1">
            <a:extLst>
              <a:ext uri="{FF2B5EF4-FFF2-40B4-BE49-F238E27FC236}">
                <a16:creationId xmlns:a16="http://schemas.microsoft.com/office/drawing/2014/main" id="{AB3F462C-11B5-6510-5351-BF6E255A30BB}"/>
              </a:ext>
            </a:extLst>
          </p:cNvPr>
          <p:cNvSpPr>
            <a:spLocks noGrp="1"/>
          </p:cNvSpPr>
          <p:nvPr>
            <p:ph type="ctrTitle"/>
          </p:nvPr>
        </p:nvSpPr>
        <p:spPr>
          <a:xfrm>
            <a:off x="1144524" y="744909"/>
            <a:ext cx="9906000" cy="3155419"/>
          </a:xfrm>
        </p:spPr>
        <p:txBody>
          <a:bodyPr anchor="b">
            <a:normAutofit/>
          </a:bodyPr>
          <a:lstStyle/>
          <a:p>
            <a:r>
              <a:rPr lang="en-IN" sz="5200"/>
              <a:t>Thank You</a:t>
            </a:r>
          </a:p>
        </p:txBody>
      </p:sp>
      <p:sp>
        <p:nvSpPr>
          <p:cNvPr id="3" name="Subtitle 2">
            <a:extLst>
              <a:ext uri="{FF2B5EF4-FFF2-40B4-BE49-F238E27FC236}">
                <a16:creationId xmlns:a16="http://schemas.microsoft.com/office/drawing/2014/main" id="{810B6DBC-E1B7-4ABF-81C9-0943596A342D}"/>
              </a:ext>
            </a:extLst>
          </p:cNvPr>
          <p:cNvSpPr>
            <a:spLocks noGrp="1"/>
          </p:cNvSpPr>
          <p:nvPr>
            <p:ph type="subTitle" idx="1"/>
          </p:nvPr>
        </p:nvSpPr>
        <p:spPr>
          <a:xfrm>
            <a:off x="1144525" y="4074784"/>
            <a:ext cx="9905999" cy="2054306"/>
          </a:xfrm>
        </p:spPr>
        <p:txBody>
          <a:bodyPr anchor="t">
            <a:normAutofit/>
          </a:bodyPr>
          <a:lstStyle/>
          <a:p>
            <a:endParaRPr lang="en-IN" sz="2200"/>
          </a:p>
        </p:txBody>
      </p:sp>
    </p:spTree>
    <p:extLst>
      <p:ext uri="{BB962C8B-B14F-4D97-AF65-F5344CB8AC3E}">
        <p14:creationId xmlns:p14="http://schemas.microsoft.com/office/powerpoint/2010/main" val="3989986934"/>
      </p:ext>
    </p:extLst>
  </p:cSld>
  <p:clrMapOvr>
    <a:masterClrMapping/>
  </p:clrMapOvr>
</p:sld>
</file>

<file path=ppt/theme/theme1.xml><?xml version="1.0" encoding="utf-8"?>
<a:theme xmlns:a="http://schemas.openxmlformats.org/drawingml/2006/main" name="DappledVTI">
  <a:themeElements>
    <a:clrScheme name="Custom 81">
      <a:dk1>
        <a:sysClr val="windowText" lastClr="000000"/>
      </a:dk1>
      <a:lt1>
        <a:sysClr val="window" lastClr="FFFFFF"/>
      </a:lt1>
      <a:dk2>
        <a:srgbClr val="21363B"/>
      </a:dk2>
      <a:lt2>
        <a:srgbClr val="F4F2F0"/>
      </a:lt2>
      <a:accent1>
        <a:srgbClr val="758468"/>
      </a:accent1>
      <a:accent2>
        <a:srgbClr val="B5A7AC"/>
      </a:accent2>
      <a:accent3>
        <a:srgbClr val="CC9C6F"/>
      </a:accent3>
      <a:accent4>
        <a:srgbClr val="767640"/>
      </a:accent4>
      <a:accent5>
        <a:srgbClr val="A5B295"/>
      </a:accent5>
      <a:accent6>
        <a:srgbClr val="C19DA7"/>
      </a:accent6>
      <a:hlink>
        <a:srgbClr val="D13D6E"/>
      </a:hlink>
      <a:folHlink>
        <a:srgbClr val="6C9D92"/>
      </a:folHlink>
    </a:clrScheme>
    <a:fontScheme name="Custom 67">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ppledVTI" id="{204FEFAB-F02B-4FE8-B509-C50A618B972D}" vid="{7EAEADA8-5A8E-45B2-B0E4-448EC7E7A94F}"/>
    </a:ext>
  </a:extLst>
</a:theme>
</file>

<file path=docProps/app.xml><?xml version="1.0" encoding="utf-8"?>
<Properties xmlns="http://schemas.openxmlformats.org/officeDocument/2006/extended-properties" xmlns:vt="http://schemas.openxmlformats.org/officeDocument/2006/docPropsVTypes">
  <TotalTime>1719</TotalTime>
  <Words>2427</Words>
  <Application>Microsoft Office PowerPoint</Application>
  <PresentationFormat>Widescreen</PresentationFormat>
  <Paragraphs>137</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Avenir Next LT Pro</vt:lpstr>
      <vt:lpstr>AvenirNext LT Pro Medium</vt:lpstr>
      <vt:lpstr>Calibri</vt:lpstr>
      <vt:lpstr>Sabon Next LT</vt:lpstr>
      <vt:lpstr>Symbol</vt:lpstr>
      <vt:lpstr>Times New Roman</vt:lpstr>
      <vt:lpstr>DappledVTI</vt:lpstr>
      <vt:lpstr>Project Review</vt:lpstr>
      <vt:lpstr>Self Adaptive Evolutionary VAE Framework for Hyperspectral Unmixing with End Member Variability</vt:lpstr>
      <vt:lpstr>Abstract</vt:lpstr>
      <vt:lpstr>Proposed Methodology</vt:lpstr>
      <vt:lpstr>Literature Survey</vt:lpstr>
      <vt:lpstr>Literature Survey</vt:lpstr>
      <vt:lpstr>Architecture</vt:lpstr>
      <vt:lpstr>Experimental Setup</vt:lpstr>
      <vt:lpstr>Dataset Description</vt:lpstr>
      <vt:lpstr>Evaluation Metrics</vt:lpstr>
      <vt:lpstr>Results</vt:lpstr>
      <vt:lpstr>GT Vs Model</vt:lpstr>
      <vt:lpstr>PCA</vt:lpstr>
      <vt:lpstr>Proposed Model PCA for latent Dimensions</vt:lpstr>
      <vt:lpstr>Base Model PCA for Latent Dimensions</vt:lpstr>
      <vt:lpstr>Analysis</vt:lpstr>
      <vt:lpstr>Conclusion</vt:lpstr>
      <vt:lpstr>Future Scope</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Shankar</dc:creator>
  <cp:lastModifiedBy>21-737-050_SHIVA SHANKAR</cp:lastModifiedBy>
  <cp:revision>7</cp:revision>
  <dcterms:created xsi:type="dcterms:W3CDTF">2024-11-01T16:30:48Z</dcterms:created>
  <dcterms:modified xsi:type="dcterms:W3CDTF">2025-05-02T05:22:50Z</dcterms:modified>
</cp:coreProperties>
</file>